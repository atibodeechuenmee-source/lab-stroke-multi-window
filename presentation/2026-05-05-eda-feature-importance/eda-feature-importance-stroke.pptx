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abdbc7d7e4e4aa5" /><Relationship Type="http://schemas.openxmlformats.org/officeDocument/2006/relationships/extended-properties" Target="/docProps/app.xml" Id="R0545457e98fe46da" /><Relationship Type="http://schemas.openxmlformats.org/officeDocument/2006/relationships/officeDocument" Target="/ppt/presentation.xml" Id="R525ef9314410490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80c7d93371c48a9"/>
  </p:sldMasterIdLst>
  <p:notesMasterIdLst>
    <p:notesMasterId xmlns:r="http://schemas.openxmlformats.org/officeDocument/2006/relationships" r:id="R423d0e3878e64b2e"/>
  </p:notesMasterIdLst>
  <p:sldIdLst>
    <p:sldId xmlns:r="http://schemas.openxmlformats.org/officeDocument/2006/relationships" id="256" r:id="Rf179ba3e7da74331"/>
    <p:sldId xmlns:r="http://schemas.openxmlformats.org/officeDocument/2006/relationships" id="257" r:id="Ra53ef0f3bf6b477f"/>
    <p:sldId xmlns:r="http://schemas.openxmlformats.org/officeDocument/2006/relationships" id="258" r:id="R87cfdebaee884cd6"/>
    <p:sldId xmlns:r="http://schemas.openxmlformats.org/officeDocument/2006/relationships" id="259" r:id="Rf011c68dcf114f9a"/>
    <p:sldId xmlns:r="http://schemas.openxmlformats.org/officeDocument/2006/relationships" id="260" r:id="R672d12e7264941bb"/>
    <p:sldId xmlns:r="http://schemas.openxmlformats.org/officeDocument/2006/relationships" id="261" r:id="R29c3db90db374101"/>
    <p:sldId xmlns:r="http://schemas.openxmlformats.org/officeDocument/2006/relationships" id="262" r:id="R5c5be0041c034723"/>
    <p:sldId xmlns:r="http://schemas.openxmlformats.org/officeDocument/2006/relationships" id="263" r:id="Rff38e3e9b92248ec"/>
    <p:sldId xmlns:r="http://schemas.openxmlformats.org/officeDocument/2006/relationships" id="264" r:id="Re7de3a4e5ec64e62"/>
    <p:sldId xmlns:r="http://schemas.openxmlformats.org/officeDocument/2006/relationships" id="265" r:id="R20a7aacdf33545f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0c7d93371c48a9" /><Relationship Type="http://schemas.openxmlformats.org/officeDocument/2006/relationships/theme" Target="/ppt/theme/theme1.xml" Id="R8387462d229447b7" /><Relationship Type="http://schemas.openxmlformats.org/officeDocument/2006/relationships/notesMaster" Target="/ppt/notesMasters/notesMaster1.xml" Id="R423d0e3878e64b2e" /><Relationship Type="http://schemas.openxmlformats.org/officeDocument/2006/relationships/presProps" Target="/ppt/presProps.xml" Id="R325193129e65468a" /><Relationship Type="http://schemas.openxmlformats.org/officeDocument/2006/relationships/viewProps" Target="/ppt/viewProps.xml" Id="R71593901ff4545b5" /><Relationship Type="http://schemas.openxmlformats.org/officeDocument/2006/relationships/tableStyles" Target="/ppt/tableStyles.xml" Id="R45c109d88061425f" /><Relationship Type="http://schemas.openxmlformats.org/officeDocument/2006/relationships/slide" Target="/ppt/slides/slide1.xml" Id="Rf179ba3e7da74331" /><Relationship Type="http://schemas.openxmlformats.org/officeDocument/2006/relationships/slide" Target="/ppt/slides/slide2.xml" Id="Ra53ef0f3bf6b477f" /><Relationship Type="http://schemas.openxmlformats.org/officeDocument/2006/relationships/slide" Target="/ppt/slides/slide3.xml" Id="R87cfdebaee884cd6" /><Relationship Type="http://schemas.openxmlformats.org/officeDocument/2006/relationships/slide" Target="/ppt/slides/slide4.xml" Id="Rf011c68dcf114f9a" /><Relationship Type="http://schemas.openxmlformats.org/officeDocument/2006/relationships/slide" Target="/ppt/slides/slide5.xml" Id="R672d12e7264941bb" /><Relationship Type="http://schemas.openxmlformats.org/officeDocument/2006/relationships/slide" Target="/ppt/slides/slide6.xml" Id="R29c3db90db374101" /><Relationship Type="http://schemas.openxmlformats.org/officeDocument/2006/relationships/slide" Target="/ppt/slides/slide7.xml" Id="R5c5be0041c034723" /><Relationship Type="http://schemas.openxmlformats.org/officeDocument/2006/relationships/slide" Target="/ppt/slides/slide8.xml" Id="Rff38e3e9b92248ec" /><Relationship Type="http://schemas.openxmlformats.org/officeDocument/2006/relationships/slide" Target="/ppt/slides/slide9.xml" Id="Re7de3a4e5ec64e62" /><Relationship Type="http://schemas.openxmlformats.org/officeDocument/2006/relationships/slide" Target="/ppt/slides/slide10.xml" Id="R20a7aacdf33545f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0575a2fac31640c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06e957b9a714bb1" /><Relationship Type="http://schemas.openxmlformats.org/officeDocument/2006/relationships/notesMaster" Target="/ppt/notesMasters/notesMaster1.xml" Id="R26ec672777874a6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fef9a0a0cd54e46" /><Relationship Type="http://schemas.openxmlformats.org/officeDocument/2006/relationships/notesMaster" Target="/ppt/notesMasters/notesMaster1.xml" Id="R678e7d7ef4134e0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1233694f5204b85" /><Relationship Type="http://schemas.openxmlformats.org/officeDocument/2006/relationships/notesMaster" Target="/ppt/notesMasters/notesMaster1.xml" Id="R9e4aab83a7044b3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c2e3aaee7354d4a" /><Relationship Type="http://schemas.openxmlformats.org/officeDocument/2006/relationships/notesMaster" Target="/ppt/notesMasters/notesMaster1.xml" Id="R619523abc8fd47c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3e058d48f724f68" /><Relationship Type="http://schemas.openxmlformats.org/officeDocument/2006/relationships/notesMaster" Target="/ppt/notesMasters/notesMaster1.xml" Id="R465aeaaa618f42c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02436f361c54a18" /><Relationship Type="http://schemas.openxmlformats.org/officeDocument/2006/relationships/notesMaster" Target="/ppt/notesMasters/notesMaster1.xml" Id="Rf0d764afa43b41a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e7400e13e5d4f84" /><Relationship Type="http://schemas.openxmlformats.org/officeDocument/2006/relationships/notesMaster" Target="/ppt/notesMasters/notesMaster1.xml" Id="R46a9cb47b85a45f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914be7489754e8d" /><Relationship Type="http://schemas.openxmlformats.org/officeDocument/2006/relationships/notesMaster" Target="/ppt/notesMasters/notesMaster1.xml" Id="R06298feab64f4b5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f3d7cf87c8e42a4" /><Relationship Type="http://schemas.openxmlformats.org/officeDocument/2006/relationships/notesMaster" Target="/ppt/notesMasters/notesMaster1.xml" Id="R40fe8b1410004ca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18e5fdb290543bc" /><Relationship Type="http://schemas.openxmlformats.org/officeDocument/2006/relationships/notesMaster" Target="/ppt/notesMasters/notesMaster1.xml" Id="R7d8be68513c444e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8911fcdcba47e8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87f155780a9a43d0" /><Relationship Type="http://schemas.openxmlformats.org/officeDocument/2006/relationships/slideLayout" Target="/ppt/slideLayouts/slideLayout2.xml" Id="R10ba6c3efa5148e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0ba6c3efa5148e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ee91c36ca2f477a" /><Relationship Type="http://schemas.openxmlformats.org/officeDocument/2006/relationships/notesSlide" Target="/ppt/notesSlides/notesSlide1.xml" Id="R5e687cbacc8e453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ad86ad8d89540c6" /><Relationship Type="http://schemas.openxmlformats.org/officeDocument/2006/relationships/notesSlide" Target="/ppt/notesSlides/notesSlide2.xml" Id="R2273ffdec013482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61a3eef9d024efc" /><Relationship Type="http://schemas.openxmlformats.org/officeDocument/2006/relationships/image" Target="/ppt/media/image.png" Id="Rf826d42b67a949c4" /><Relationship Type="http://schemas.openxmlformats.org/officeDocument/2006/relationships/notesSlide" Target="/ppt/notesSlides/notesSlide3.xml" Id="R8a7da79fb5594c1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14857519d604605" /><Relationship Type="http://schemas.openxmlformats.org/officeDocument/2006/relationships/image" Target="/ppt/media/image2.png" Id="R42693bfcd74541a4" /><Relationship Type="http://schemas.openxmlformats.org/officeDocument/2006/relationships/notesSlide" Target="/ppt/notesSlides/notesSlide4.xml" Id="R6466e5a7c55e40d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ba7b1d69251491c" /><Relationship Type="http://schemas.openxmlformats.org/officeDocument/2006/relationships/image" Target="/ppt/media/image3.png" Id="Rb905aa2511844335" /><Relationship Type="http://schemas.openxmlformats.org/officeDocument/2006/relationships/notesSlide" Target="/ppt/notesSlides/notesSlide5.xml" Id="R15a2286f2b5444e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27e7fdca3eb458e" /><Relationship Type="http://schemas.openxmlformats.org/officeDocument/2006/relationships/notesSlide" Target="/ppt/notesSlides/notesSlide6.xml" Id="Radfb0332e54c490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de7e52288634232" /><Relationship Type="http://schemas.openxmlformats.org/officeDocument/2006/relationships/notesSlide" Target="/ppt/notesSlides/notesSlide7.xml" Id="R918c5982ef314ba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ac5baee41b64fb3" /><Relationship Type="http://schemas.openxmlformats.org/officeDocument/2006/relationships/image" Target="/ppt/media/image4.png" Id="Rd6e7951838ae45c5" /><Relationship Type="http://schemas.openxmlformats.org/officeDocument/2006/relationships/notesSlide" Target="/ppt/notesSlides/notesSlide8.xml" Id="R99c4665bca3a414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f7129fb9b6d4d5b" /><Relationship Type="http://schemas.openxmlformats.org/officeDocument/2006/relationships/image" Target="/ppt/media/image5.png" Id="R67a275edbdb34988" /><Relationship Type="http://schemas.openxmlformats.org/officeDocument/2006/relationships/notesSlide" Target="/ppt/notesSlides/notesSlide9.xml" Id="R9d69ecbb8c8d4a6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baca2bf883d4812" /><Relationship Type="http://schemas.openxmlformats.org/officeDocument/2006/relationships/notesSlide" Target="/ppt/notesSlides/notesSlide10.xml" Id="Raa84682a5df14b6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BF103B-777B-4160-A44E-9791A888C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1AA9F9-FB86-4AF1-96AB-5A7BF27C5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2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CF37E2-E4AB-4095-B801-63CD81874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6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-marker">
            <a:extLst xmlns:a="http://schemas.openxmlformats.org/drawingml/2006/main">
              <a:ext uri="{FF2B5EF4-FFF2-40B4-BE49-F238E27FC236}">
                <a16:creationId xmlns:a16="http://schemas.microsoft.com/office/drawing/2014/main" id="{5754C615-ADED-47B5-A845-FA2D99601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6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1-label">
            <a:extLst xmlns:a="http://schemas.openxmlformats.org/drawingml/2006/main">
              <a:ext uri="{FF2B5EF4-FFF2-40B4-BE49-F238E27FC236}">
                <a16:creationId xmlns:a16="http://schemas.microsoft.com/office/drawing/2014/main" id="{229CA840-8F45-4D75-A105-FDCA5CD32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8625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7080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607080"/>
                </a:solidFill>
                <a:latin typeface="Leelawadee UI"/>
                <a:ea typeface="Leelawadee UI"/>
                <a:cs typeface="Leelawadee UI"/>
              </a:rPr>
              <a:t>DATASET FRAME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D96B0D-4163-4566-8A85-985FF3F53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53150"/>
            <a:ext cx="552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0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0">
                <a:solidFill>
                  <a:srgbClr val="607080"/>
                </a:solidFill>
                <a:latin typeface="Leelawadee UI"/>
                <a:ea typeface="Leelawadee UI"/>
                <a:cs typeface="Leelawadee U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C21F06-3B17-4997-85A5-8640729DA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791"/>
                </a:solidFill>
                <a:latin typeface="Leelawadee UI"/>
                <a:ea typeface="Leelawadee UI"/>
                <a:cs typeface="Leelawadee UI"/>
              </a:defRPr>
            </a:pPr>
            <a:r>
              <a:rPr sz="750" b="0">
                <a:solidFill>
                  <a:srgbClr val="7B8791"/>
                </a:solidFill>
                <a:latin typeface="Leelawadee UI"/>
                <a:ea typeface="Leelawadee UI"/>
                <a:cs typeface="Leelawadee UI"/>
              </a:rPr>
              <a:t>EDA + Feature Importance | stroke prediction record-level analysis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1BED19-59FA-4F7D-B3C4-58E6F9553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906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2A"/>
                </a:solidFill>
                <a:latin typeface="Leelawadee UI"/>
                <a:ea typeface="Leelawadee UI"/>
                <a:cs typeface="Leelawadee UI"/>
              </a:defRPr>
            </a:pPr>
            <a:r>
              <a:rPr sz="2625" b="1">
                <a:solidFill>
                  <a:srgbClr val="17202A"/>
                </a:solidFill>
                <a:latin typeface="Leelawadee UI"/>
                <a:ea typeface="Leelawadee UI"/>
                <a:cs typeface="Leelawadee UI"/>
              </a:rPr>
              <a:t>Dataset พร้อมวิเคราะห์ แต่ stroke เป็น minority class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08ED9E-3141-4DF6-8E04-B8C5229B3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895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080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0">
                <a:solidFill>
                  <a:srgbClr val="607080"/>
                </a:solidFill>
                <a:latin typeface="Leelawadee UI"/>
                <a:ea typeface="Leelawadee UI"/>
                <a:cs typeface="Leelawadee UI"/>
              </a:rPr>
              <a:t>ข้อมูลใหญ่พอสำหรับ EDA แต่ positive class มีสัดส่วนเพียง 2.36%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AB34B1-C53F-41C6-90BA-2CA818D57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2381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5DE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D0814A-CD07-4BC5-8EDF-BB8452D28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571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2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BE7388-1E85-4F8F-8ED5-1384CCA06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62225"/>
            <a:ext cx="2057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D7286"/>
                </a:solidFill>
                <a:latin typeface="Leelawadee UI"/>
                <a:ea typeface="Leelawadee UI"/>
                <a:cs typeface="Leelawadee UI"/>
              </a:defRPr>
            </a:pPr>
            <a:r>
              <a:rPr sz="1950" b="1">
                <a:solidFill>
                  <a:srgbClr val="0D7286"/>
                </a:solidFill>
                <a:latin typeface="Leelawadee UI"/>
                <a:ea typeface="Leelawadee UI"/>
                <a:cs typeface="Leelawadee UI"/>
              </a:rPr>
              <a:t>218,772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B35DFD-A405-429D-9FC8-E7E3A0A88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2057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A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17202A"/>
                </a:solidFill>
                <a:latin typeface="Leelawadee UI"/>
                <a:ea typeface="Leelawadee UI"/>
                <a:cs typeface="Leelawadee UI"/>
              </a:rPr>
              <a:t>records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640E88-455A-40BB-A0EB-172D821A3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2057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080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607080"/>
                </a:solidFill>
                <a:latin typeface="Leelawadee UI"/>
                <a:ea typeface="Leelawadee UI"/>
                <a:cs typeface="Leelawadee UI"/>
              </a:rPr>
              <a:t>record-level rows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15D578-404F-4267-9540-C336AD2E7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381250"/>
            <a:ext cx="2381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5DED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D0C95A-9272-4202-848C-810C19D8E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381250"/>
            <a:ext cx="571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8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2E6F31-0DE5-4078-9266-34FBD31E7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62225"/>
            <a:ext cx="2057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6E8B3D"/>
                </a:solidFill>
                <a:latin typeface="Leelawadee UI"/>
                <a:ea typeface="Leelawadee UI"/>
                <a:cs typeface="Leelawadee UI"/>
              </a:defRPr>
            </a:pPr>
            <a:r>
              <a:rPr sz="1950" b="1">
                <a:solidFill>
                  <a:srgbClr val="6E8B3D"/>
                </a:solidFill>
                <a:latin typeface="Leelawadee UI"/>
                <a:ea typeface="Leelawadee UI"/>
                <a:cs typeface="Leelawadee UI"/>
              </a:rPr>
              <a:t>30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3EB839-627C-4176-A9F1-0E03C69AB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924175"/>
            <a:ext cx="2057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A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17202A"/>
                </a:solidFill>
                <a:latin typeface="Leelawadee UI"/>
                <a:ea typeface="Leelawadee UI"/>
                <a:cs typeface="Leelawadee UI"/>
              </a:rPr>
              <a:t>columns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B3AB80-A7C7-461D-B72F-2A0C7027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162300"/>
            <a:ext cx="2057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080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607080"/>
                </a:solidFill>
                <a:latin typeface="Leelawadee UI"/>
                <a:ea typeface="Leelawadee UI"/>
                <a:cs typeface="Leelawadee UI"/>
              </a:rPr>
              <a:t>structured + text fields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36AF35-E7F3-4741-B965-997EF841F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381250"/>
            <a:ext cx="2381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5DED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D8E0D1-592F-43AF-BB35-A2D12FEC1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381250"/>
            <a:ext cx="571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6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C08889-FAC9-4047-BC19-87CCA88D8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62225"/>
            <a:ext cx="2057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C76B3A"/>
                </a:solidFill>
                <a:latin typeface="Leelawadee UI"/>
                <a:ea typeface="Leelawadee UI"/>
                <a:cs typeface="Leelawadee UI"/>
              </a:defRPr>
            </a:pPr>
            <a:r>
              <a:rPr sz="1950" b="1">
                <a:solidFill>
                  <a:srgbClr val="C76B3A"/>
                </a:solidFill>
                <a:latin typeface="Leelawadee UI"/>
                <a:ea typeface="Leelawadee UI"/>
                <a:cs typeface="Leelawadee UI"/>
              </a:rPr>
              <a:t>2014-10-01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F786E2-1780-48F1-9E28-0DCA7A0CE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24175"/>
            <a:ext cx="2057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A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17202A"/>
                </a:solidFill>
                <a:latin typeface="Leelawadee UI"/>
                <a:ea typeface="Leelawadee UI"/>
                <a:cs typeface="Leelawadee UI"/>
              </a:rPr>
              <a:t>start date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1D34EE-500B-4E7A-BAE2-61850CB4E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62300"/>
            <a:ext cx="2057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080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607080"/>
                </a:solidFill>
                <a:latin typeface="Leelawadee UI"/>
                <a:ea typeface="Leelawadee UI"/>
                <a:cs typeface="Leelawadee UI"/>
              </a:rPr>
              <a:t>ถึง 2024-06-30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2209D3-8670-4098-9D40-4840743FD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381250"/>
            <a:ext cx="2381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5DED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E35C13-8BE1-4CB6-AE3E-7628ED343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381250"/>
            <a:ext cx="571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3E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DF1DC1-AD2D-4FF4-A10B-99B6A5975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562225"/>
            <a:ext cx="2057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A53E3E"/>
                </a:solidFill>
                <a:latin typeface="Leelawadee UI"/>
                <a:ea typeface="Leelawadee UI"/>
                <a:cs typeface="Leelawadee UI"/>
              </a:defRPr>
            </a:pPr>
            <a:r>
              <a:rPr sz="1950" b="1">
                <a:solidFill>
                  <a:srgbClr val="A53E3E"/>
                </a:solidFill>
                <a:latin typeface="Leelawadee UI"/>
                <a:ea typeface="Leelawadee UI"/>
                <a:cs typeface="Leelawadee UI"/>
              </a:rPr>
              <a:t>5,170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B970F8-9187-4743-B949-B58B9D0F0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924175"/>
            <a:ext cx="2057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A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17202A"/>
                </a:solidFill>
                <a:latin typeface="Leelawadee UI"/>
                <a:ea typeface="Leelawadee UI"/>
                <a:cs typeface="Leelawadee UI"/>
              </a:rPr>
              <a:t>stroke records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98650D-B76D-4C41-A9AD-D5260590F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62300"/>
            <a:ext cx="2057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080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607080"/>
                </a:solidFill>
                <a:latin typeface="Leelawadee UI"/>
                <a:ea typeface="Leelawadee UI"/>
                <a:cs typeface="Leelawadee UI"/>
              </a:rPr>
              <a:t>prevalence 2.36%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AB1A1F-B472-400A-BB79-EB397A14F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71950"/>
            <a:ext cx="10382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4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B7217FB-7D84-4FB3-AA8F-7017A942F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005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FE8E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CFE8EF"/>
                </a:solidFill>
                <a:latin typeface="Leelawadee UI"/>
                <a:ea typeface="Leelawadee UI"/>
                <a:cs typeface="Leelawadee UI"/>
              </a:rPr>
              <a:t>Implication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8C44D68-5B4C-4BEC-90B9-E5B87D723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86300"/>
            <a:ext cx="923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อ่าน performance และ feature importance ร่วมกับ class imbalance เสมอ: accuracy อย่างเดียวไม่พอ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14CA62F-B9D2-4047-A3D3-54FB97777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B949E"/>
                </a:solidFill>
                <a:latin typeface="Leelawadee UI"/>
                <a:ea typeface="Leelawadee UI"/>
                <a:cs typeface="Leelawadee UI"/>
              </a:defRPr>
            </a:pPr>
            <a:r>
              <a:rPr sz="675" b="0">
                <a:solidFill>
                  <a:srgbClr val="8B949E"/>
                </a:solidFill>
                <a:latin typeface="Leelawadee UI"/>
                <a:ea typeface="Leelawadee UI"/>
                <a:cs typeface="Leelawadee UI"/>
              </a:rPr>
              <a:t>Source: DATASET.md; output/eda_output/column_types.csv; feature_importance_stroke_metrics.txt</a:t>
            </a:r>
          </a:p>
        </p:txBody>
      </p:sp>
    </p:spTree>
    <p:extLst>
      <p:ext uri="{BB962C8B-B14F-4D97-AF65-F5344CB8AC3E}">
        <p14:creationId xmlns:p14="http://schemas.microsoft.com/office/powerpoint/2010/main" val="141007654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80F1CB-852A-410F-A2EE-955520E36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08A2B2-376F-4373-9515-2EBF7F05F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2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C25B3E-AC32-4F36-9F3F-60DE1F5CE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6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2-marker">
            <a:extLst xmlns:a="http://schemas.openxmlformats.org/drawingml/2006/main">
              <a:ext uri="{FF2B5EF4-FFF2-40B4-BE49-F238E27FC236}">
                <a16:creationId xmlns:a16="http://schemas.microsoft.com/office/drawing/2014/main" id="{AE208815-DEE5-437C-AB9B-533B0E0DA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6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2-label">
            <a:extLst xmlns:a="http://schemas.openxmlformats.org/drawingml/2006/main">
              <a:ext uri="{FF2B5EF4-FFF2-40B4-BE49-F238E27FC236}">
                <a16:creationId xmlns:a16="http://schemas.microsoft.com/office/drawing/2014/main" id="{F51ED3E5-B0F2-4E55-AE7B-6798534BA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8625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7080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607080"/>
                </a:solidFill>
                <a:latin typeface="Leelawadee UI"/>
                <a:ea typeface="Leelawadee UI"/>
                <a:cs typeface="Leelawadee UI"/>
              </a:rPr>
              <a:t>FEATURE 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0B3EE8-7D81-44A7-9D3E-D3032626A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53150"/>
            <a:ext cx="552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0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0">
                <a:solidFill>
                  <a:srgbClr val="607080"/>
                </a:solidFill>
                <a:latin typeface="Leelawadee UI"/>
                <a:ea typeface="Leelawadee UI"/>
                <a:cs typeface="Leelawadee UI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734F10-EEBE-48CF-B767-135E9D8CA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791"/>
                </a:solidFill>
                <a:latin typeface="Leelawadee UI"/>
                <a:ea typeface="Leelawadee UI"/>
                <a:cs typeface="Leelawadee UI"/>
              </a:defRPr>
            </a:pPr>
            <a:r>
              <a:rPr sz="750" b="0">
                <a:solidFill>
                  <a:srgbClr val="7B8791"/>
                </a:solidFill>
                <a:latin typeface="Leelawadee UI"/>
                <a:ea typeface="Leelawadee UI"/>
                <a:cs typeface="Leelawadee UI"/>
              </a:rPr>
              <a:t>EDA + Feature Importance | stroke prediction record-level analysis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C369FE-3371-43BF-9583-BDB22805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906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2A"/>
                </a:solidFill>
                <a:latin typeface="Leelawadee UI"/>
                <a:ea typeface="Leelawadee UI"/>
                <a:cs typeface="Leelawadee UI"/>
              </a:defRPr>
            </a:pPr>
            <a:r>
              <a:rPr sz="2625" b="1">
                <a:solidFill>
                  <a:srgbClr val="17202A"/>
                </a:solidFill>
                <a:latin typeface="Leelawadee UI"/>
                <a:ea typeface="Leelawadee UI"/>
                <a:cs typeface="Leelawadee UI"/>
              </a:rPr>
              <a:t>Feature groups ครอบคลุมข้อมูลคลินิกหลายมิติ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0749B4-BC5E-446C-8CDE-A598E5EE2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895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080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0">
                <a:solidFill>
                  <a:srgbClr val="607080"/>
                </a:solidFill>
                <a:latin typeface="Leelawadee UI"/>
                <a:ea typeface="Leelawadee UI"/>
                <a:cs typeface="Leelawadee UI"/>
              </a:rPr>
              <a:t>Feature set ผสม clinical measurements, comorbidity และ medication flags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18903E-B8A5-493A-B2CC-819114CDA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2286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5DE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FF20F3-12C6-46EA-84AF-1764283FE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2286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2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4685FE-7F51-414E-8512-7504A46BA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1952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D7286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1">
                <a:solidFill>
                  <a:srgbClr val="0D7286"/>
                </a:solidFill>
                <a:latin typeface="Leelawadee UI"/>
                <a:ea typeface="Leelawadee UI"/>
                <a:cs typeface="Leelawadee UI"/>
              </a:rPr>
              <a:t>Demographic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1AC708-3BAB-4A45-9956-E8E7AACE3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67025"/>
            <a:ext cx="1952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A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0">
                <a:solidFill>
                  <a:srgbClr val="17202A"/>
                </a:solidFill>
                <a:latin typeface="Leelawadee UI"/>
                <a:ea typeface="Leelawadee UI"/>
                <a:cs typeface="Leelawadee UI"/>
              </a:rPr>
              <a:t>age, sex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B6019E-65F3-4C4C-83C2-C6F715204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33625"/>
            <a:ext cx="2286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5DED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313FAF-BCBD-4444-9158-9305BA512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33625"/>
            <a:ext cx="2286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6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A81963-5169-4E5B-8241-183B301F5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562225"/>
            <a:ext cx="1952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6B3A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1">
                <a:solidFill>
                  <a:srgbClr val="C76B3A"/>
                </a:solidFill>
                <a:latin typeface="Leelawadee UI"/>
                <a:ea typeface="Leelawadee UI"/>
                <a:cs typeface="Leelawadee UI"/>
              </a:rPr>
              <a:t>Body metrics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3E2873-9F58-4F98-BBA8-AA0703BFF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867025"/>
            <a:ext cx="1952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A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0">
                <a:solidFill>
                  <a:srgbClr val="17202A"/>
                </a:solidFill>
                <a:latin typeface="Leelawadee UI"/>
                <a:ea typeface="Leelawadee UI"/>
                <a:cs typeface="Leelawadee UI"/>
              </a:rPr>
              <a:t>height, bw, bmi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957C30-C142-4A8D-8940-31F789035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33625"/>
            <a:ext cx="2286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5DED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079145-9E59-441F-8F1C-8782F371C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33625"/>
            <a:ext cx="2286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8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46CB36-A814-449A-8DB2-93B260C94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62225"/>
            <a:ext cx="1952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E8B3D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1">
                <a:solidFill>
                  <a:srgbClr val="6E8B3D"/>
                </a:solidFill>
                <a:latin typeface="Leelawadee UI"/>
                <a:ea typeface="Leelawadee UI"/>
                <a:cs typeface="Leelawadee UI"/>
              </a:rPr>
              <a:t>Blood pressure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424622-7DA7-4F4E-ABF0-4FB7A27DB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67025"/>
            <a:ext cx="1952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A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0">
                <a:solidFill>
                  <a:srgbClr val="17202A"/>
                </a:solidFill>
                <a:latin typeface="Leelawadee UI"/>
                <a:ea typeface="Leelawadee UI"/>
                <a:cs typeface="Leelawadee UI"/>
              </a:rPr>
              <a:t>bps, bpd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7A7949-51C8-4385-AB72-AA0BB5EB0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33625"/>
            <a:ext cx="2286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5DED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D6BEA4-9445-4583-9F03-A130D55BA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33625"/>
            <a:ext cx="2286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2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BBE610-CCBA-497C-A904-A665C40AE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62225"/>
            <a:ext cx="1952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D7286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1">
                <a:solidFill>
                  <a:srgbClr val="0D7286"/>
                </a:solidFill>
                <a:latin typeface="Leelawadee UI"/>
                <a:ea typeface="Leelawadee UI"/>
                <a:cs typeface="Leelawadee UI"/>
              </a:rPr>
              <a:t>Lab profile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8ACB5F-BCA6-4EF2-9D41-B7278EBB3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867025"/>
            <a:ext cx="1952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A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0">
                <a:solidFill>
                  <a:srgbClr val="17202A"/>
                </a:solidFill>
                <a:latin typeface="Leelawadee UI"/>
                <a:ea typeface="Leelawadee UI"/>
                <a:cs typeface="Leelawadee UI"/>
              </a:rPr>
              <a:t>HDL, LDL, Triglyceride,</a:t>
            </a:r>
          </a:p>
          <a:p xmlns:a="http://schemas.openxmlformats.org/drawingml/2006/main">
            <a:pPr algn="l">
              <a:defRPr sz="1050" b="0">
                <a:solidFill>
                  <a:srgbClr val="17202A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0">
                <a:solidFill>
                  <a:srgbClr val="17202A"/>
                </a:solidFill>
                <a:latin typeface="Leelawadee UI"/>
                <a:ea typeface="Leelawadee UI"/>
                <a:cs typeface="Leelawadee UI"/>
              </a:rPr>
              <a:t>Cholesterol, FBS, TC:HDL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F41FAB-EB35-4EC1-8D50-412EFA9EE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238625"/>
            <a:ext cx="2286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5DED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AF8F29-BAE1-4287-8614-830CAA64A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238625"/>
            <a:ext cx="2286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6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094F75-E8B6-418B-BFA1-01AE0AFDF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467225"/>
            <a:ext cx="1952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6B3A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1">
                <a:solidFill>
                  <a:srgbClr val="C76B3A"/>
                </a:solidFill>
                <a:latin typeface="Leelawadee UI"/>
                <a:ea typeface="Leelawadee UI"/>
                <a:cs typeface="Leelawadee UI"/>
              </a:rPr>
              <a:t>Kidney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0DFAFB-C5F5-491D-B73D-BFFEEE675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772025"/>
            <a:ext cx="1952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A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0">
                <a:solidFill>
                  <a:srgbClr val="17202A"/>
                </a:solidFill>
                <a:latin typeface="Leelawadee UI"/>
                <a:ea typeface="Leelawadee UI"/>
                <a:cs typeface="Leelawadee UI"/>
              </a:rPr>
              <a:t>eGFR, Creatinine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781BC4-4E0D-481D-A9AF-D30F195B7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38625"/>
            <a:ext cx="2286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5DED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2D4D1EB-11E2-4C38-9797-303C676A5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38625"/>
            <a:ext cx="2286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8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A1493CD-7944-4A94-860E-5D3BB16DC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467225"/>
            <a:ext cx="1952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E8B3D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1">
                <a:solidFill>
                  <a:srgbClr val="6E8B3D"/>
                </a:solidFill>
                <a:latin typeface="Leelawadee UI"/>
                <a:ea typeface="Leelawadee UI"/>
                <a:cs typeface="Leelawadee UI"/>
              </a:rPr>
              <a:t>Comorbidity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20FC783-5758-403F-B1EF-99F49F614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772025"/>
            <a:ext cx="1952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A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0">
                <a:solidFill>
                  <a:srgbClr val="17202A"/>
                </a:solidFill>
                <a:latin typeface="Leelawadee UI"/>
                <a:ea typeface="Leelawadee UI"/>
                <a:cs typeface="Leelawadee UI"/>
              </a:rPr>
              <a:t>hypertension, diabetes,</a:t>
            </a:r>
          </a:p>
          <a:p xmlns:a="http://schemas.openxmlformats.org/drawingml/2006/main">
            <a:pPr algn="l">
              <a:defRPr sz="1050" b="0">
                <a:solidFill>
                  <a:srgbClr val="17202A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0">
                <a:solidFill>
                  <a:srgbClr val="17202A"/>
                </a:solidFill>
                <a:latin typeface="Leelawadee UI"/>
                <a:ea typeface="Leelawadee UI"/>
                <a:cs typeface="Leelawadee UI"/>
              </a:rPr>
              <a:t>heart disease, AF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4A3A22A-6C63-4BF2-B2ED-9DCF55C60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38625"/>
            <a:ext cx="2286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5DED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B158D59-4BD4-4186-A207-221487752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38625"/>
            <a:ext cx="2286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2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1B7ADD0-8ADD-42F9-A20F-29A1BEA4C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467225"/>
            <a:ext cx="1952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D7286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1">
                <a:solidFill>
                  <a:srgbClr val="0D7286"/>
                </a:solidFill>
                <a:latin typeface="Leelawadee UI"/>
                <a:ea typeface="Leelawadee UI"/>
                <a:cs typeface="Leelawadee UI"/>
              </a:rPr>
              <a:t>Medication flags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F2D89E9-3EE3-4ACB-ACE9-59CB35D5F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772025"/>
            <a:ext cx="1952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A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0">
                <a:solidFill>
                  <a:srgbClr val="17202A"/>
                </a:solidFill>
                <a:latin typeface="Leelawadee UI"/>
                <a:ea typeface="Leelawadee UI"/>
                <a:cs typeface="Leelawadee UI"/>
              </a:rPr>
              <a:t>Statin, Gemfibrozil,</a:t>
            </a:r>
          </a:p>
          <a:p xmlns:a="http://schemas.openxmlformats.org/drawingml/2006/main">
            <a:pPr algn="l">
              <a:defRPr sz="1050" b="0">
                <a:solidFill>
                  <a:srgbClr val="17202A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0">
                <a:solidFill>
                  <a:srgbClr val="17202A"/>
                </a:solidFill>
                <a:latin typeface="Leelawadee UI"/>
                <a:ea typeface="Leelawadee UI"/>
                <a:cs typeface="Leelawadee UI"/>
              </a:rPr>
              <a:t>Antihypertensive flag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F06CBFA-1A3B-4145-BCE5-59B2D8CEA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57850"/>
            <a:ext cx="914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A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1">
                <a:solidFill>
                  <a:srgbClr val="17202A"/>
                </a:solidFill>
                <a:latin typeface="Leelawadee UI"/>
                <a:ea typeface="Leelawadee UI"/>
                <a:cs typeface="Leelawadee UI"/>
              </a:rPr>
              <a:t>Reading goal: โมเดลไม่ได้พึ่งตัวแปรชนิดเดียว แต่รวม risk profile หลายมิติ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DCF49E1-F0B7-43BA-A0BE-2516271F1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B949E"/>
                </a:solidFill>
                <a:latin typeface="Leelawadee UI"/>
                <a:ea typeface="Leelawadee UI"/>
                <a:cs typeface="Leelawadee UI"/>
              </a:defRPr>
            </a:pPr>
            <a:r>
              <a:rPr sz="675" b="0">
                <a:solidFill>
                  <a:srgbClr val="8B949E"/>
                </a:solidFill>
                <a:latin typeface="Leelawadee UI"/>
                <a:ea typeface="Leelawadee UI"/>
                <a:cs typeface="Leelawadee UI"/>
              </a:rPr>
              <a:t>Source: output/eda_output/column_types.csv; job/EDA-stroke.md</a:t>
            </a:r>
          </a:p>
        </p:txBody>
      </p:sp>
    </p:spTree>
    <p:extLst>
      <p:ext uri="{BB962C8B-B14F-4D97-AF65-F5344CB8AC3E}">
        <p14:creationId xmlns:p14="http://schemas.microsoft.com/office/powerpoint/2010/main" val="118786809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26d42b67a949c4"/>
          <a:stretch xmlns:a="http://schemas.openxmlformats.org/drawingml/2006/main"/>
        </p:blipFill>
        <p:spPr>
          <a:xfrm xmlns:a="http://schemas.openxmlformats.org/drawingml/2006/main">
            <a:off x="989492" y="2190750"/>
            <a:ext cx="6069642" cy="3238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5B524E-9DAE-4513-AAD0-77D8EDC96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CBEB8C-DB5F-4667-91D3-7679375AB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5AB00F-255F-497E-BF1D-13731DDF5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0543BB-136A-4EEB-9F3D-479B6F740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FDBE2C-D739-4A9C-9304-29DF3EF11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668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47E970-0584-4222-9D32-32D00237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335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399800-9A94-4F19-9310-BCD4C79EB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002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019B71-A85C-4A0A-974A-B7759BDBB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6690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8FB7B3-E8A9-4B86-941F-91EC404B4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81200"/>
            <a:ext cx="571500" cy="487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108D5E-36B6-4D35-9977-E5F825A32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981200"/>
            <a:ext cx="4714875" cy="487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846CB6-A931-4254-B1D7-EF909713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86450"/>
            <a:ext cx="121920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9D4461-2A70-4206-AA8E-83D39CA62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2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41E8D3-303F-49BB-BBEA-91F2577E2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6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kicker-3-marker">
            <a:extLst xmlns:a="http://schemas.openxmlformats.org/drawingml/2006/main">
              <a:ext uri="{FF2B5EF4-FFF2-40B4-BE49-F238E27FC236}">
                <a16:creationId xmlns:a16="http://schemas.microsoft.com/office/drawing/2014/main" id="{C8E02BA8-432F-471E-AA18-040D187BF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6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kicker-3-label">
            <a:extLst xmlns:a="http://schemas.openxmlformats.org/drawingml/2006/main">
              <a:ext uri="{FF2B5EF4-FFF2-40B4-BE49-F238E27FC236}">
                <a16:creationId xmlns:a16="http://schemas.microsoft.com/office/drawing/2014/main" id="{9FB0B153-4728-4785-963A-85EB8DA51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8625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7080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607080"/>
                </a:solidFill>
                <a:latin typeface="Leelawadee UI"/>
                <a:ea typeface="Leelawadee UI"/>
                <a:cs typeface="Leelawadee UI"/>
              </a:rPr>
              <a:t>MISSINGNESS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AFE4A0-644F-4090-AB84-F7BE3EE53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906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2A"/>
                </a:solidFill>
                <a:latin typeface="Leelawadee UI"/>
                <a:ea typeface="Leelawadee UI"/>
                <a:cs typeface="Leelawadee UI"/>
              </a:defRPr>
            </a:pPr>
            <a:r>
              <a:rPr sz="2625" b="1">
                <a:solidFill>
                  <a:srgbClr val="17202A"/>
                </a:solidFill>
                <a:latin typeface="Leelawadee UI"/>
                <a:ea typeface="Leelawadee UI"/>
                <a:cs typeface="Leelawadee UI"/>
              </a:rPr>
              <a:t>Missing values สูงมากใน lab variables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1BC793-AA59-4A93-9FFB-734CC1F80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895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080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0">
                <a:solidFill>
                  <a:srgbClr val="607080"/>
                </a:solidFill>
                <a:latin typeface="Leelawadee UI"/>
                <a:ea typeface="Leelawadee UI"/>
                <a:cs typeface="Leelawadee UI"/>
              </a:rPr>
              <a:t>หลาย lab variables หายมากกว่า 70% จึงเป็นทั้ง data quality และ modeling caveat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5B5204-44D1-403A-85AD-91FC43643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53150"/>
            <a:ext cx="552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0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0">
                <a:solidFill>
                  <a:srgbClr val="607080"/>
                </a:solidFill>
                <a:latin typeface="Leelawadee UI"/>
                <a:ea typeface="Leelawadee UI"/>
                <a:cs typeface="Leelawadee UI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A3E50A-4AC8-40D0-BF6B-79DA077BB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791"/>
                </a:solidFill>
                <a:latin typeface="Leelawadee UI"/>
                <a:ea typeface="Leelawadee UI"/>
                <a:cs typeface="Leelawadee UI"/>
              </a:defRPr>
            </a:pPr>
            <a:r>
              <a:rPr sz="750" b="0">
                <a:solidFill>
                  <a:srgbClr val="7B8791"/>
                </a:solidFill>
                <a:latin typeface="Leelawadee UI"/>
                <a:ea typeface="Leelawadee UI"/>
                <a:cs typeface="Leelawadee UI"/>
              </a:rPr>
              <a:t>EDA + Feature Importance | stroke prediction record-level analysis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AE4C14-4953-462D-895B-E543F7E6F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095500"/>
            <a:ext cx="27146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5DED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279F3F-3B59-46B2-96A8-32B81F2A6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095500"/>
            <a:ext cx="571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3E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1A7007-8576-45ED-9CC6-2142796CD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276475"/>
            <a:ext cx="23907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A53E3E"/>
                </a:solidFill>
                <a:latin typeface="Leelawadee UI"/>
                <a:ea typeface="Leelawadee UI"/>
                <a:cs typeface="Leelawadee UI"/>
              </a:defRPr>
            </a:pPr>
            <a:r>
              <a:rPr sz="1950" b="1">
                <a:solidFill>
                  <a:srgbClr val="A53E3E"/>
                </a:solidFill>
                <a:latin typeface="Leelawadee UI"/>
                <a:ea typeface="Leelawadee UI"/>
                <a:cs typeface="Leelawadee UI"/>
              </a:rPr>
              <a:t>74.14%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91CC86-014B-44BB-BCB8-EE979E0AF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638425"/>
            <a:ext cx="23907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A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17202A"/>
                </a:solidFill>
                <a:latin typeface="Leelawadee UI"/>
                <a:ea typeface="Leelawadee UI"/>
                <a:cs typeface="Leelawadee UI"/>
              </a:rPr>
              <a:t>FBS missing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CF1F97-3CF2-4D56-982A-388297590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876550"/>
            <a:ext cx="23907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080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607080"/>
                </a:solidFill>
                <a:latin typeface="Leelawadee UI"/>
                <a:ea typeface="Leelawadee UI"/>
                <a:cs typeface="Leelawadee UI"/>
              </a:rPr>
              <a:t>162,187 missing rows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A02A05-BC3D-4166-88D2-4BE2F7527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352800"/>
            <a:ext cx="27146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5DED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801A9B-4BE1-423A-AFB9-A2BAC4534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352800"/>
            <a:ext cx="571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3E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AADACC-BE7D-432B-B3CD-39E14B275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3533775"/>
            <a:ext cx="23907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A53E3E"/>
                </a:solidFill>
                <a:latin typeface="Leelawadee UI"/>
                <a:ea typeface="Leelawadee UI"/>
                <a:cs typeface="Leelawadee UI"/>
              </a:defRPr>
            </a:pPr>
            <a:r>
              <a:rPr sz="1950" b="1">
                <a:solidFill>
                  <a:srgbClr val="A53E3E"/>
                </a:solidFill>
                <a:latin typeface="Leelawadee UI"/>
                <a:ea typeface="Leelawadee UI"/>
                <a:cs typeface="Leelawadee UI"/>
              </a:rPr>
              <a:t>71.99%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CA0728-BFB2-41B5-AC96-6073F67C3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3895725"/>
            <a:ext cx="23907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A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17202A"/>
                </a:solidFill>
                <a:latin typeface="Leelawadee UI"/>
                <a:ea typeface="Leelawadee UI"/>
                <a:cs typeface="Leelawadee UI"/>
              </a:rPr>
              <a:t>Triglyceride missing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DBCD0A-832F-4D26-98E3-06EEC4C53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4133850"/>
            <a:ext cx="23907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080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607080"/>
                </a:solidFill>
                <a:latin typeface="Leelawadee UI"/>
                <a:ea typeface="Leelawadee UI"/>
                <a:cs typeface="Leelawadee UI"/>
              </a:rPr>
              <a:t>157,488 missing rows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A802B0-73F4-4239-9FB8-2836DD39D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610100"/>
            <a:ext cx="27146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5DED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131878-C9E8-4119-831E-EA826E707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610100"/>
            <a:ext cx="571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3E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E9B472E-1599-47CF-8617-0D18A5EBB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4791075"/>
            <a:ext cx="23907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A53E3E"/>
                </a:solidFill>
                <a:latin typeface="Leelawadee UI"/>
                <a:ea typeface="Leelawadee UI"/>
                <a:cs typeface="Leelawadee UI"/>
              </a:defRPr>
            </a:pPr>
            <a:r>
              <a:rPr sz="1950" b="1">
                <a:solidFill>
                  <a:srgbClr val="A53E3E"/>
                </a:solidFill>
                <a:latin typeface="Leelawadee UI"/>
                <a:ea typeface="Leelawadee UI"/>
                <a:cs typeface="Leelawadee UI"/>
              </a:rPr>
              <a:t>70.93%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2E0C8CC-85D6-43B5-9C7B-232459D3F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5153025"/>
            <a:ext cx="23907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A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17202A"/>
                </a:solidFill>
                <a:latin typeface="Leelawadee UI"/>
                <a:ea typeface="Leelawadee UI"/>
                <a:cs typeface="Leelawadee UI"/>
              </a:rPr>
              <a:t>LDL missing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9F21408-62F0-4DB9-A288-8D9B6DAFA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5391150"/>
            <a:ext cx="23907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080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607080"/>
                </a:solidFill>
                <a:latin typeface="Leelawadee UI"/>
                <a:ea typeface="Leelawadee UI"/>
                <a:cs typeface="Leelawadee UI"/>
              </a:rPr>
              <a:t>155,180 missing rows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B94245D-D4E5-4F51-B2D5-3DE6065C2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3431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3E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5FB4506-C2AA-4F67-908F-461BC3BB2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2266950"/>
            <a:ext cx="9715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0">
                <a:solidFill>
                  <a:srgbClr val="17202A"/>
                </a:solidFill>
                <a:latin typeface="Leelawadee UI"/>
                <a:ea typeface="Leelawadee UI"/>
                <a:cs typeface="Leelawadee UI"/>
              </a:rPr>
              <a:t>TC:HDL_ratio missing 70.87%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2ADD9FC-F1E9-4C0A-BC99-17515F3D1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194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3E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C6BDD5E-608B-4E90-8DFD-825029316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143250"/>
            <a:ext cx="9715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0">
                <a:solidFill>
                  <a:srgbClr val="17202A"/>
                </a:solidFill>
                <a:latin typeface="Leelawadee UI"/>
                <a:ea typeface="Leelawadee UI"/>
                <a:cs typeface="Leelawadee UI"/>
              </a:rPr>
              <a:t>Missingness อาจสะท้อน workflow การตรวจ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F2C0729-B673-455C-ABDC-B476334A1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0957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3E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ABA29EA-764E-405C-9DB0-37403FE0B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4019550"/>
            <a:ext cx="9715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0">
                <a:solidFill>
                  <a:srgbClr val="17202A"/>
                </a:solidFill>
                <a:latin typeface="Leelawadee UI"/>
                <a:ea typeface="Leelawadee UI"/>
                <a:cs typeface="Leelawadee UI"/>
              </a:rPr>
              <a:t>ใช้ imputation และ missing indicators ใน modeling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A45C29D-E29F-4E59-99DF-45ECB0160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B949E"/>
                </a:solidFill>
                <a:latin typeface="Leelawadee UI"/>
                <a:ea typeface="Leelawadee UI"/>
                <a:cs typeface="Leelawadee UI"/>
              </a:defRPr>
            </a:pPr>
            <a:r>
              <a:rPr sz="675" b="0">
                <a:solidFill>
                  <a:srgbClr val="8B949E"/>
                </a:solidFill>
                <a:latin typeface="Leelawadee UI"/>
                <a:ea typeface="Leelawadee UI"/>
                <a:cs typeface="Leelawadee UI"/>
              </a:rPr>
              <a:t>Source: output/eda_output/missing_summary.csv; missing_values_percent.png</a:t>
            </a:r>
          </a:p>
        </p:txBody>
      </p:sp>
    </p:spTree>
    <p:extLst>
      <p:ext uri="{BB962C8B-B14F-4D97-AF65-F5344CB8AC3E}">
        <p14:creationId xmlns:p14="http://schemas.microsoft.com/office/powerpoint/2010/main" val="181075172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ECB9A4-F28B-4863-B298-69AA615FC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FCE369-6CA4-432E-93EB-0AA12E388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2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B331C7-9158-4007-8619-A25EDD321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6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4-marker">
            <a:extLst xmlns:a="http://schemas.openxmlformats.org/drawingml/2006/main">
              <a:ext uri="{FF2B5EF4-FFF2-40B4-BE49-F238E27FC236}">
                <a16:creationId xmlns:a16="http://schemas.microsoft.com/office/drawing/2014/main" id="{C1286DE3-D8FE-406A-90ED-24C2F17DE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6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4-label">
            <a:extLst xmlns:a="http://schemas.openxmlformats.org/drawingml/2006/main">
              <a:ext uri="{FF2B5EF4-FFF2-40B4-BE49-F238E27FC236}">
                <a16:creationId xmlns:a16="http://schemas.microsoft.com/office/drawing/2014/main" id="{9655B584-DEB3-48F4-942C-00AE73B61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8625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7080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607080"/>
                </a:solidFill>
                <a:latin typeface="Leelawadee UI"/>
                <a:ea typeface="Leelawadee UI"/>
                <a:cs typeface="Leelawadee UI"/>
              </a:rPr>
              <a:t>POPULATION PROFILE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AAE69D-8051-42C1-AC2C-420B9B67A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53150"/>
            <a:ext cx="552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0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0">
                <a:solidFill>
                  <a:srgbClr val="607080"/>
                </a:solidFill>
                <a:latin typeface="Leelawadee UI"/>
                <a:ea typeface="Leelawadee UI"/>
                <a:cs typeface="Leelawadee UI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E65FD6-6390-4572-B9B9-574C0F8E5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791"/>
                </a:solidFill>
                <a:latin typeface="Leelawadee UI"/>
                <a:ea typeface="Leelawadee UI"/>
                <a:cs typeface="Leelawadee UI"/>
              </a:defRPr>
            </a:pPr>
            <a:r>
              <a:rPr sz="750" b="0">
                <a:solidFill>
                  <a:srgbClr val="7B8791"/>
                </a:solidFill>
                <a:latin typeface="Leelawadee UI"/>
                <a:ea typeface="Leelawadee UI"/>
                <a:cs typeface="Leelawadee UI"/>
              </a:rPr>
              <a:t>EDA + Feature Importance | stroke prediction record-level analysis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023DD6-D292-45FC-AD3C-F33AA0751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906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2A"/>
                </a:solidFill>
                <a:latin typeface="Leelawadee UI"/>
                <a:ea typeface="Leelawadee UI"/>
                <a:cs typeface="Leelawadee UI"/>
              </a:defRPr>
            </a:pPr>
            <a:r>
              <a:rPr sz="2625" b="1">
                <a:solidFill>
                  <a:srgbClr val="17202A"/>
                </a:solidFill>
                <a:latin typeface="Leelawadee UI"/>
                <a:ea typeface="Leelawadee UI"/>
                <a:cs typeface="Leelawadee UI"/>
              </a:rPr>
              <a:t>ข้อมูลพื้นฐานชี้ population ที่มีความเสี่ยงสูง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4FB331-6666-4407-8A8F-ED29C5AEF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895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080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0">
                <a:solidFill>
                  <a:srgbClr val="607080"/>
                </a:solidFill>
                <a:latin typeface="Leelawadee UI"/>
                <a:ea typeface="Leelawadee UI"/>
                <a:cs typeface="Leelawadee UI"/>
              </a:rPr>
              <a:t>อายุ, ความดัน และ disease flags บ่งชี้ risk burden สูงใน cohort นี้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C3C56C-E313-40E5-BFCB-45C66EDC3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14550"/>
            <a:ext cx="20955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5DE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430AB7-A827-42E0-A0F7-36E9B153F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14550"/>
            <a:ext cx="571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2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3F31F7-6090-4342-A930-F94CAAD8B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95525"/>
            <a:ext cx="1771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D7286"/>
                </a:solidFill>
                <a:latin typeface="Leelawadee UI"/>
                <a:ea typeface="Leelawadee UI"/>
                <a:cs typeface="Leelawadee UI"/>
              </a:defRPr>
            </a:pPr>
            <a:r>
              <a:rPr sz="1950" b="1">
                <a:solidFill>
                  <a:srgbClr val="0D7286"/>
                </a:solidFill>
                <a:latin typeface="Leelawadee UI"/>
                <a:ea typeface="Leelawadee UI"/>
                <a:cs typeface="Leelawadee UI"/>
              </a:rPr>
              <a:t>62.78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1C7DEE-1429-4873-A74D-5A9C7FD09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1771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A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17202A"/>
                </a:solidFill>
                <a:latin typeface="Leelawadee UI"/>
                <a:ea typeface="Leelawadee UI"/>
                <a:cs typeface="Leelawadee UI"/>
              </a:rPr>
              <a:t>mean 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6331DD-C8A1-4B12-87C2-9EC417C70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95600"/>
            <a:ext cx="1771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080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607080"/>
                </a:solidFill>
                <a:latin typeface="Leelawadee UI"/>
                <a:ea typeface="Leelawadee UI"/>
                <a:cs typeface="Leelawadee UI"/>
              </a:rPr>
              <a:t>years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A332AD-2E85-4009-88D8-6477B0586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71850"/>
            <a:ext cx="20955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5DED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E08D25-E46F-4D7B-BEBB-FA79C8F2B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71850"/>
            <a:ext cx="571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8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CFADFE-1ADB-4EFE-9480-25DFFDF63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52825"/>
            <a:ext cx="1771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6E8B3D"/>
                </a:solidFill>
                <a:latin typeface="Leelawadee UI"/>
                <a:ea typeface="Leelawadee UI"/>
                <a:cs typeface="Leelawadee UI"/>
              </a:defRPr>
            </a:pPr>
            <a:r>
              <a:rPr sz="1950" b="1">
                <a:solidFill>
                  <a:srgbClr val="6E8B3D"/>
                </a:solidFill>
                <a:latin typeface="Leelawadee UI"/>
                <a:ea typeface="Leelawadee UI"/>
                <a:cs typeface="Leelawadee UI"/>
              </a:rPr>
              <a:t>24.91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1E40D5-80CA-4933-ADB9-0E1360143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14775"/>
            <a:ext cx="1771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A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17202A"/>
                </a:solidFill>
                <a:latin typeface="Leelawadee UI"/>
                <a:ea typeface="Leelawadee UI"/>
                <a:cs typeface="Leelawadee UI"/>
              </a:rPr>
              <a:t>mean BMI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67DC1A-7E8E-42D1-9FF7-78117567C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52900"/>
            <a:ext cx="1771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080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607080"/>
                </a:solidFill>
                <a:latin typeface="Leelawadee UI"/>
                <a:ea typeface="Leelawadee UI"/>
                <a:cs typeface="Leelawadee UI"/>
              </a:rPr>
              <a:t>kg/m²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5B0E5C-B0F4-4539-8315-DB5AEC3BB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29150"/>
            <a:ext cx="20955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5DED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1B572F-8809-43AD-9663-F1DC13B98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29150"/>
            <a:ext cx="571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6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4AB4C1-33E4-4E83-AD6B-476AD3656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10125"/>
            <a:ext cx="1771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C76B3A"/>
                </a:solidFill>
                <a:latin typeface="Leelawadee UI"/>
                <a:ea typeface="Leelawadee UI"/>
                <a:cs typeface="Leelawadee UI"/>
              </a:defRPr>
            </a:pPr>
            <a:r>
              <a:rPr sz="1950" b="1">
                <a:solidFill>
                  <a:srgbClr val="C76B3A"/>
                </a:solidFill>
                <a:latin typeface="Leelawadee UI"/>
                <a:ea typeface="Leelawadee UI"/>
                <a:cs typeface="Leelawadee UI"/>
              </a:rPr>
              <a:t>134.50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5D2141-35F6-405A-8D1C-1A0797109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72075"/>
            <a:ext cx="1771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A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17202A"/>
                </a:solidFill>
                <a:latin typeface="Leelawadee UI"/>
                <a:ea typeface="Leelawadee UI"/>
                <a:cs typeface="Leelawadee UI"/>
              </a:rPr>
              <a:t>mean BPS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E873D2-4C4B-4D4C-B0B4-248043A3E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10200"/>
            <a:ext cx="1771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080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607080"/>
                </a:solidFill>
                <a:latin typeface="Leelawadee UI"/>
                <a:ea typeface="Leelawadee UI"/>
                <a:cs typeface="Leelawadee UI"/>
              </a:rPr>
              <a:t>mmHg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ECE678-D727-4E2A-8514-AF61E9288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095500"/>
            <a:ext cx="495300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5DED2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693bfcd74541a4"/>
          <a:stretch xmlns:a="http://schemas.openxmlformats.org/drawingml/2006/main"/>
        </p:blipFill>
        <p:spPr>
          <a:xfrm xmlns:a="http://schemas.openxmlformats.org/drawingml/2006/main">
            <a:off x="4034267" y="2209800"/>
            <a:ext cx="3266216" cy="3257550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80F2C3-15BC-4842-9B94-8C29CA7AC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5486400"/>
            <a:ext cx="464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080"/>
                </a:solidFill>
                <a:latin typeface="Leelawadee UI"/>
                <a:ea typeface="Leelawadee UI"/>
                <a:cs typeface="Leelawadee UI"/>
              </a:defRPr>
            </a:pPr>
            <a:r>
              <a:rPr sz="750" b="0">
                <a:solidFill>
                  <a:srgbClr val="607080"/>
                </a:solidFill>
                <a:latin typeface="Leelawadee UI"/>
                <a:ea typeface="Leelawadee UI"/>
                <a:cs typeface="Leelawadee UI"/>
              </a:rPr>
              <a:t>Feature distributions overview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D39090-3734-4930-8796-C6BBEF8E8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400300"/>
            <a:ext cx="25717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5DED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F716F2-B3CA-42EA-A83C-7E5F5A018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400300"/>
            <a:ext cx="571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3E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D9A217-903B-4D04-8129-C54EE8F2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581275"/>
            <a:ext cx="2247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A53E3E"/>
                </a:solidFill>
                <a:latin typeface="Leelawadee UI"/>
                <a:ea typeface="Leelawadee UI"/>
                <a:cs typeface="Leelawadee UI"/>
              </a:defRPr>
            </a:pPr>
            <a:r>
              <a:rPr sz="1950" b="1">
                <a:solidFill>
                  <a:srgbClr val="A53E3E"/>
                </a:solidFill>
                <a:latin typeface="Leelawadee UI"/>
                <a:ea typeface="Leelawadee UI"/>
                <a:cs typeface="Leelawadee UI"/>
              </a:rPr>
              <a:t>71.15%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4C0EC47-68A0-4AFD-8E61-58EBF2828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943225"/>
            <a:ext cx="2247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A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17202A"/>
                </a:solidFill>
                <a:latin typeface="Leelawadee UI"/>
                <a:ea typeface="Leelawadee UI"/>
                <a:cs typeface="Leelawadee UI"/>
              </a:rPr>
              <a:t>hypertension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AE0235-E71E-41F5-9C69-09D3830A8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181350"/>
            <a:ext cx="2247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080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607080"/>
                </a:solidFill>
                <a:latin typeface="Leelawadee UI"/>
                <a:ea typeface="Leelawadee UI"/>
                <a:cs typeface="Leelawadee UI"/>
              </a:rPr>
              <a:t>binary flag prevalence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595E7FB-20B5-4B03-B85B-73A64F91B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857625"/>
            <a:ext cx="25717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5DED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6C08FAD-2268-4B99-8DEE-138BD777F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857625"/>
            <a:ext cx="571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3E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7B888D6-D6E6-409E-84B2-77EBC38E1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038600"/>
            <a:ext cx="2247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A53E3E"/>
                </a:solidFill>
                <a:latin typeface="Leelawadee UI"/>
                <a:ea typeface="Leelawadee UI"/>
                <a:cs typeface="Leelawadee UI"/>
              </a:defRPr>
            </a:pPr>
            <a:r>
              <a:rPr sz="1950" b="1">
                <a:solidFill>
                  <a:srgbClr val="A53E3E"/>
                </a:solidFill>
                <a:latin typeface="Leelawadee UI"/>
                <a:ea typeface="Leelawadee UI"/>
                <a:cs typeface="Leelawadee UI"/>
              </a:rPr>
              <a:t>30.97%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3384521-9316-40F2-955E-0B2FC35E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400550"/>
            <a:ext cx="2247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A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17202A"/>
                </a:solidFill>
                <a:latin typeface="Leelawadee UI"/>
                <a:ea typeface="Leelawadee UI"/>
                <a:cs typeface="Leelawadee UI"/>
              </a:rPr>
              <a:t>diabetes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F89ABC6-C15C-4005-B106-4FC661D0C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638675"/>
            <a:ext cx="2247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080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607080"/>
                </a:solidFill>
                <a:latin typeface="Leelawadee UI"/>
                <a:ea typeface="Leelawadee UI"/>
                <a:cs typeface="Leelawadee UI"/>
              </a:rPr>
              <a:t>binary flag prevalence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8FB8DC3-D851-442E-BAFE-C7E536271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219700"/>
            <a:ext cx="266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17202A"/>
                </a:solidFill>
                <a:latin typeface="Leelawadee UI"/>
                <a:ea typeface="Leelawadee UI"/>
                <a:cs typeface="Leelawadee UI"/>
              </a:rPr>
              <a:t>Interpretation: population นี้ไม่ใช่กลุ่ม low-risk ทั่วไป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9A44FD2-5AF2-4AD7-A1E3-7E9A84741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B949E"/>
                </a:solidFill>
                <a:latin typeface="Leelawadee UI"/>
                <a:ea typeface="Leelawadee UI"/>
                <a:cs typeface="Leelawadee UI"/>
              </a:defRPr>
            </a:pPr>
            <a:r>
              <a:rPr sz="675" b="0">
                <a:solidFill>
                  <a:srgbClr val="8B949E"/>
                </a:solidFill>
                <a:latin typeface="Leelawadee UI"/>
                <a:ea typeface="Leelawadee UI"/>
                <a:cs typeface="Leelawadee UI"/>
              </a:rPr>
              <a:t>Source: output/eda_output/numeric_summary.csv; feature_distributions.png</a:t>
            </a:r>
          </a:p>
        </p:txBody>
      </p:sp>
    </p:spTree>
    <p:extLst>
      <p:ext uri="{BB962C8B-B14F-4D97-AF65-F5344CB8AC3E}">
        <p14:creationId xmlns:p14="http://schemas.microsoft.com/office/powerpoint/2010/main" val="193153631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05aa2511844335"/>
          <a:stretch xmlns:a="http://schemas.openxmlformats.org/drawingml/2006/main"/>
        </p:blipFill>
        <p:spPr>
          <a:xfrm xmlns:a="http://schemas.openxmlformats.org/drawingml/2006/main">
            <a:off x="1811619" y="2162175"/>
            <a:ext cx="3901512" cy="343852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71FBC7-41EE-47CC-9AE5-2BC92CAD5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4043F4-916E-456E-9D92-72AF57EFF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8CA16D-19EE-4245-A999-24CC7A25B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5A6720-3148-4654-BACB-D4AE27512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33A34F-5249-46C6-AB99-7C37CE8B8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668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637CC7-C71C-46C3-9F43-97FDD770E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335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DDABDC-B298-43F4-9C38-F69261D98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002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C84D19-7CEF-473C-A782-FFE177D56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6690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C3415B-67BF-4862-AEBC-85BBC6E37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52625"/>
            <a:ext cx="571500" cy="490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D3A8D5-6528-4B30-A728-CB61A1FDF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52625"/>
            <a:ext cx="5238750" cy="490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E9EAC5-859F-402F-B77F-9ED7701E7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00750"/>
            <a:ext cx="12192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285BBF-838E-4D73-BB11-741889007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2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39ADB8-15FF-46F4-B590-2B42D62A2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6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kicker-5-marker">
            <a:extLst xmlns:a="http://schemas.openxmlformats.org/drawingml/2006/main">
              <a:ext uri="{FF2B5EF4-FFF2-40B4-BE49-F238E27FC236}">
                <a16:creationId xmlns:a16="http://schemas.microsoft.com/office/drawing/2014/main" id="{FFEDC7F6-1A5B-4E7C-A314-C3825E219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6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kicker-5-label">
            <a:extLst xmlns:a="http://schemas.openxmlformats.org/drawingml/2006/main">
              <a:ext uri="{FF2B5EF4-FFF2-40B4-BE49-F238E27FC236}">
                <a16:creationId xmlns:a16="http://schemas.microsoft.com/office/drawing/2014/main" id="{5D507A67-6D70-4048-A66B-624123B9A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8625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7080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607080"/>
                </a:solidFill>
                <a:latin typeface="Leelawadee UI"/>
                <a:ea typeface="Leelawadee UI"/>
                <a:cs typeface="Leelawadee UI"/>
              </a:rPr>
              <a:t>CORRELATION + OUTLIER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EB50EA-E3DF-4854-A5AA-21B8BC98F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906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2A"/>
                </a:solidFill>
                <a:latin typeface="Leelawadee UI"/>
                <a:ea typeface="Leelawadee UI"/>
                <a:cs typeface="Leelawadee UI"/>
              </a:defRPr>
            </a:pPr>
            <a:r>
              <a:rPr sz="2625" b="1">
                <a:solidFill>
                  <a:srgbClr val="17202A"/>
                </a:solidFill>
                <a:latin typeface="Leelawadee UI"/>
                <a:ea typeface="Leelawadee UI"/>
                <a:cs typeface="Leelawadee UI"/>
              </a:rPr>
              <a:t>Correlation และ outlier บอกข้อควรระวังก่อน modeling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63D27A-90F4-47C9-8647-D9AE8DA12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895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080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0">
                <a:solidFill>
                  <a:srgbClr val="607080"/>
                </a:solidFill>
                <a:latin typeface="Leelawadee UI"/>
                <a:ea typeface="Leelawadee UI"/>
                <a:cs typeface="Leelawadee UI"/>
              </a:rPr>
              <a:t>ตัวแปรบางคู่มี information ซ้ำกัน และ LDL มีค่าผิดธรรมชาติที่ต้องตรวจสอบ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0AB9CA-45F0-4386-B6F0-30FF90938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53150"/>
            <a:ext cx="552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0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0">
                <a:solidFill>
                  <a:srgbClr val="607080"/>
                </a:solidFill>
                <a:latin typeface="Leelawadee UI"/>
                <a:ea typeface="Leelawadee UI"/>
                <a:cs typeface="Leelawadee UI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D8C6A8-277C-4A38-9DDB-845C17A42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791"/>
                </a:solidFill>
                <a:latin typeface="Leelawadee UI"/>
                <a:ea typeface="Leelawadee UI"/>
                <a:cs typeface="Leelawadee UI"/>
              </a:defRPr>
            </a:pPr>
            <a:r>
              <a:rPr sz="750" b="0">
                <a:solidFill>
                  <a:srgbClr val="7B8791"/>
                </a:solidFill>
                <a:latin typeface="Leelawadee UI"/>
                <a:ea typeface="Leelawadee UI"/>
                <a:cs typeface="Leelawadee UI"/>
              </a:rPr>
              <a:t>EDA + Feature Importance | stroke prediction record-level analysis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6C7393-2AA7-41AA-9D96-DCEA88F3F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133600"/>
            <a:ext cx="34290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5DED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E1FBE6-64A0-4A16-9AFC-510F3F200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812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D7286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0D7286"/>
                </a:solidFill>
                <a:latin typeface="Leelawadee UI"/>
                <a:ea typeface="Leelawadee UI"/>
                <a:cs typeface="Leelawadee UI"/>
              </a:rPr>
              <a:t>Top correlation pairs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2E355D-B738-4BCD-A06C-4B36F92BC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1940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1">
                <a:solidFill>
                  <a:srgbClr val="17202A"/>
                </a:solidFill>
                <a:latin typeface="Leelawadee UI"/>
                <a:ea typeface="Leelawadee UI"/>
                <a:cs typeface="Leelawadee UI"/>
              </a:rPr>
              <a:t>LDL - Cholesterol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853D1D-A609-4DBA-A58D-88B89D95F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19400"/>
            <a:ext cx="857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07080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607080"/>
                </a:solidFill>
                <a:latin typeface="Leelawadee UI"/>
                <a:ea typeface="Leelawadee UI"/>
                <a:cs typeface="Leelawadee UI"/>
              </a:rPr>
              <a:t>r = 0.916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BFF2C3-7FFF-4C1C-A7E3-525127A80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813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1">
                <a:solidFill>
                  <a:srgbClr val="17202A"/>
                </a:solidFill>
                <a:latin typeface="Leelawadee UI"/>
                <a:ea typeface="Leelawadee UI"/>
                <a:cs typeface="Leelawadee UI"/>
              </a:rPr>
              <a:t>BW - BMI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40353D-F868-45FD-B0A8-E7D69D19B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181350"/>
            <a:ext cx="857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07080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607080"/>
                </a:solidFill>
                <a:latin typeface="Leelawadee UI"/>
                <a:ea typeface="Leelawadee UI"/>
                <a:cs typeface="Leelawadee UI"/>
              </a:rPr>
              <a:t>r = 0.883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A6E855-9643-42E5-8042-6E9C1E476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54330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1">
                <a:solidFill>
                  <a:srgbClr val="17202A"/>
                </a:solidFill>
                <a:latin typeface="Leelawadee UI"/>
                <a:ea typeface="Leelawadee UI"/>
                <a:cs typeface="Leelawadee UI"/>
              </a:rPr>
              <a:t>eGFR - Creatinine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603959-DD14-48F4-8A6A-6BE955F2A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543300"/>
            <a:ext cx="857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07080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607080"/>
                </a:solidFill>
                <a:latin typeface="Leelawadee UI"/>
                <a:ea typeface="Leelawadee UI"/>
                <a:cs typeface="Leelawadee UI"/>
              </a:rPr>
              <a:t>r = -0.768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EAA328-5236-4483-935F-F068D7A3E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333875"/>
            <a:ext cx="3429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F2"/>
          </a:solidFill>
          <a:ln xmlns:a="http://schemas.openxmlformats.org/drawingml/2006/main" w="9525">
            <a:solidFill>
              <a:srgbClr val="E6C6B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658431-E360-413E-BF15-52BEEFA05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720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53E3E"/>
                </a:solidFill>
                <a:latin typeface="Leelawadee UI"/>
                <a:ea typeface="Leelawadee UI"/>
                <a:cs typeface="Leelawadee UI"/>
              </a:defRPr>
            </a:pPr>
            <a:r>
              <a:rPr sz="1200" b="1">
                <a:solidFill>
                  <a:srgbClr val="A53E3E"/>
                </a:solidFill>
                <a:latin typeface="Leelawadee UI"/>
                <a:ea typeface="Leelawadee UI"/>
                <a:cs typeface="Leelawadee UI"/>
              </a:rPr>
              <a:t>Outlier caveat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2453D40-DE92-4C00-8CEC-FCAE4FC10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876800"/>
            <a:ext cx="2762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17202A"/>
                </a:solidFill>
                <a:latin typeface="Leelawadee UI"/>
                <a:ea typeface="Leelawadee UI"/>
                <a:cs typeface="Leelawadee UI"/>
              </a:rPr>
              <a:t>LDL minimum = -30 ควรตรวจสอบว่าเป็น data error หรือรหัสพิเศษก่อนตีความ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AC53FBC-E0B4-415D-9AA4-883C3FC9A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B949E"/>
                </a:solidFill>
                <a:latin typeface="Leelawadee UI"/>
                <a:ea typeface="Leelawadee UI"/>
                <a:cs typeface="Leelawadee UI"/>
              </a:defRPr>
            </a:pPr>
            <a:r>
              <a:rPr sz="675" b="0">
                <a:solidFill>
                  <a:srgbClr val="8B949E"/>
                </a:solidFill>
                <a:latin typeface="Leelawadee UI"/>
                <a:ea typeface="Leelawadee UI"/>
                <a:cs typeface="Leelawadee UI"/>
              </a:rPr>
              <a:t>Source: correlation_pairs_ranked.csv; correlation_matrix.png; numeric_summary.csv</a:t>
            </a:r>
          </a:p>
        </p:txBody>
      </p:sp>
    </p:spTree>
    <p:extLst>
      <p:ext uri="{BB962C8B-B14F-4D97-AF65-F5344CB8AC3E}">
        <p14:creationId xmlns:p14="http://schemas.microsoft.com/office/powerpoint/2010/main" val="42478310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ACDB61-659C-4DE9-BAE1-57F2E0DD3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A42371-A9C3-49F2-8705-7851B0579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2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3F2655-16FF-44BA-990F-FA85AD7B5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6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6-marker">
            <a:extLst xmlns:a="http://schemas.openxmlformats.org/drawingml/2006/main">
              <a:ext uri="{FF2B5EF4-FFF2-40B4-BE49-F238E27FC236}">
                <a16:creationId xmlns:a16="http://schemas.microsoft.com/office/drawing/2014/main" id="{B39D1FF6-48D5-42FB-838C-75B05638F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6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6-label">
            <a:extLst xmlns:a="http://schemas.openxmlformats.org/drawingml/2006/main">
              <a:ext uri="{FF2B5EF4-FFF2-40B4-BE49-F238E27FC236}">
                <a16:creationId xmlns:a16="http://schemas.microsoft.com/office/drawing/2014/main" id="{E3D62FCF-A9B3-45C8-97DE-591204185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8625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7080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607080"/>
                </a:solidFill>
                <a:latin typeface="Leelawadee UI"/>
                <a:ea typeface="Leelawadee UI"/>
                <a:cs typeface="Leelawadee UI"/>
              </a:rPr>
              <a:t>LEAKAGE CONTROL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C36677-9364-4507-BB6A-2EB0701C0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53150"/>
            <a:ext cx="552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0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0">
                <a:solidFill>
                  <a:srgbClr val="607080"/>
                </a:solidFill>
                <a:latin typeface="Leelawadee UI"/>
                <a:ea typeface="Leelawadee UI"/>
                <a:cs typeface="Leelawadee UI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A14BAF-AE79-47E1-A1BD-3607EF194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791"/>
                </a:solidFill>
                <a:latin typeface="Leelawadee UI"/>
                <a:ea typeface="Leelawadee UI"/>
                <a:cs typeface="Leelawadee UI"/>
              </a:defRPr>
            </a:pPr>
            <a:r>
              <a:rPr sz="750" b="0">
                <a:solidFill>
                  <a:srgbClr val="7B8791"/>
                </a:solidFill>
                <a:latin typeface="Leelawadee UI"/>
                <a:ea typeface="Leelawadee UI"/>
                <a:cs typeface="Leelawadee UI"/>
              </a:rPr>
              <a:t>EDA + Feature Importance | stroke prediction record-level analysis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496CCF-FAB2-48F3-AFE8-D7E22DC07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906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2A"/>
                </a:solidFill>
                <a:latin typeface="Leelawadee UI"/>
                <a:ea typeface="Leelawadee UI"/>
                <a:cs typeface="Leelawadee UI"/>
              </a:defRPr>
            </a:pPr>
            <a:r>
              <a:rPr sz="2625" b="1">
                <a:solidFill>
                  <a:srgbClr val="17202A"/>
                </a:solidFill>
                <a:latin typeface="Leelawadee UI"/>
                <a:ea typeface="Leelawadee UI"/>
                <a:cs typeface="Leelawadee UI"/>
              </a:rPr>
              <a:t>Feature importance pipeline ลด leakage จาก diagnosis/text fields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BE2175-AE77-4C81-8097-FCDD6C827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895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080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0">
                <a:solidFill>
                  <a:srgbClr val="607080"/>
                </a:solidFill>
                <a:latin typeface="Leelawadee UI"/>
                <a:ea typeface="Leelawadee UI"/>
                <a:cs typeface="Leelawadee UI"/>
              </a:rPr>
              <a:t>Target มาจาก PrincipleDiagnosis แต่ diagnosis/text fields ไม่ถูกใช้เป็น features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9BBC42-6662-477C-89C6-471DF6F82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16383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5DE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4D8694-46A4-4AC6-99BC-96B744F11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1638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2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16ED17-A988-4771-983C-66454F63C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90850"/>
            <a:ext cx="1314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D7286"/>
                </a:solidFill>
                <a:latin typeface="Leelawadee UI"/>
                <a:ea typeface="Leelawadee UI"/>
                <a:cs typeface="Leelawadee UI"/>
              </a:defRPr>
            </a:pPr>
            <a:r>
              <a:rPr sz="1200" b="1">
                <a:solidFill>
                  <a:srgbClr val="0D7286"/>
                </a:solidFill>
                <a:latin typeface="Leelawadee UI"/>
                <a:ea typeface="Leelawadee UI"/>
                <a:cs typeface="Leelawadee UI"/>
              </a:rPr>
              <a:t>Raw data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73DF4A-9D67-4496-9A04-634200EDA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33750"/>
            <a:ext cx="1314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0">
                <a:solidFill>
                  <a:srgbClr val="17202A"/>
                </a:solidFill>
                <a:latin typeface="Leelawadee UI"/>
                <a:ea typeface="Leelawadee UI"/>
                <a:cs typeface="Leelawadee UI"/>
              </a:rPr>
              <a:t>218,772 records</a:t>
            </a:r>
          </a:p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0">
                <a:solidFill>
                  <a:srgbClr val="17202A"/>
                </a:solidFill>
                <a:latin typeface="Leelawadee UI"/>
                <a:ea typeface="Leelawadee UI"/>
                <a:cs typeface="Leelawadee UI"/>
              </a:rPr>
              <a:t>30 columns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BAF830-69CA-4A6E-8121-343DD89C1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3147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CA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4B696C-3C44-43DC-A1C6-5107152BC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257550"/>
            <a:ext cx="8572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CA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5D4965-E0CF-49F7-AB57-AF4DFADC3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86050"/>
            <a:ext cx="16383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5DED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3324DE-9E4E-45B3-A236-8AEBB3A13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86050"/>
            <a:ext cx="1638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2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AEC88A-5893-43D9-8F7C-EE1A31771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990850"/>
            <a:ext cx="1314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D7286"/>
                </a:solidFill>
                <a:latin typeface="Leelawadee UI"/>
                <a:ea typeface="Leelawadee UI"/>
                <a:cs typeface="Leelawadee UI"/>
              </a:defRPr>
            </a:pPr>
            <a:r>
              <a:rPr sz="1200" b="1">
                <a:solidFill>
                  <a:srgbClr val="0D7286"/>
                </a:solidFill>
                <a:latin typeface="Leelawadee UI"/>
                <a:ea typeface="Leelawadee UI"/>
                <a:cs typeface="Leelawadee UI"/>
              </a:rPr>
              <a:t>Target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C331C5-D79A-4367-A069-B3AB1FF84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333750"/>
            <a:ext cx="1314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0">
                <a:solidFill>
                  <a:srgbClr val="17202A"/>
                </a:solidFill>
                <a:latin typeface="Leelawadee UI"/>
                <a:ea typeface="Leelawadee UI"/>
                <a:cs typeface="Leelawadee UI"/>
              </a:rPr>
              <a:t>ICD-10 I60-I69*</a:t>
            </a:r>
          </a:p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0">
                <a:solidFill>
                  <a:srgbClr val="17202A"/>
                </a:solidFill>
                <a:latin typeface="Leelawadee UI"/>
                <a:ea typeface="Leelawadee UI"/>
                <a:cs typeface="Leelawadee UI"/>
              </a:rPr>
              <a:t>ใน PrincipleDiagnosis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C1F87E-40AB-46EB-B6D4-A557586BE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3147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CA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ECF644-F617-4C13-8858-247843BCD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257550"/>
            <a:ext cx="8572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CA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D16729-0FA3-4CD4-8ACC-9A6699D02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686050"/>
            <a:ext cx="16383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5DED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AA146A-4AD8-45FC-BD6D-BA5D7DB1D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686050"/>
            <a:ext cx="1638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3E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3446D2-A753-4161-A065-AC1C802C6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990850"/>
            <a:ext cx="1314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53E3E"/>
                </a:solidFill>
                <a:latin typeface="Leelawadee UI"/>
                <a:ea typeface="Leelawadee UI"/>
                <a:cs typeface="Leelawadee UI"/>
              </a:defRPr>
            </a:pPr>
            <a:r>
              <a:rPr sz="1200" b="1">
                <a:solidFill>
                  <a:srgbClr val="A53E3E"/>
                </a:solidFill>
                <a:latin typeface="Leelawadee UI"/>
                <a:ea typeface="Leelawadee UI"/>
                <a:cs typeface="Leelawadee UI"/>
              </a:rPr>
              <a:t>Drop leakage fields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2BE530-6292-4AEB-9E9A-FBA0DF23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333750"/>
            <a:ext cx="1314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0">
                <a:solidFill>
                  <a:srgbClr val="17202A"/>
                </a:solidFill>
                <a:latin typeface="Leelawadee UI"/>
                <a:ea typeface="Leelawadee UI"/>
                <a:cs typeface="Leelawadee UI"/>
              </a:rPr>
              <a:t>ไม่ใช้ diagnosis</a:t>
            </a:r>
          </a:p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0">
                <a:solidFill>
                  <a:srgbClr val="17202A"/>
                </a:solidFill>
                <a:latin typeface="Leelawadee UI"/>
                <a:ea typeface="Leelawadee UI"/>
                <a:cs typeface="Leelawadee UI"/>
              </a:rPr>
              <a:t>หรือ text fields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70A0EA-29FE-440A-8D4C-A05EAABE3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3147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CA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09D538-048B-41B0-BFFE-7D22FFC0F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257550"/>
            <a:ext cx="8572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CA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502497-9D54-47D3-A17D-BEEC3150A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686050"/>
            <a:ext cx="16383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5DED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ECD066-4798-4E95-AD9A-6E4E14702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686050"/>
            <a:ext cx="1638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2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6907EF-7E73-489C-80D6-3FE8A14F7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90850"/>
            <a:ext cx="1314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D7286"/>
                </a:solidFill>
                <a:latin typeface="Leelawadee UI"/>
                <a:ea typeface="Leelawadee UI"/>
                <a:cs typeface="Leelawadee UI"/>
              </a:defRPr>
            </a:pPr>
            <a:r>
              <a:rPr sz="1200" b="1">
                <a:solidFill>
                  <a:srgbClr val="0D7286"/>
                </a:solidFill>
                <a:latin typeface="Leelawadee UI"/>
                <a:ea typeface="Leelawadee UI"/>
                <a:cs typeface="Leelawadee UI"/>
              </a:rPr>
              <a:t>Missing handling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0ECFDC-9DC5-43BE-B4FE-91A369C7B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33750"/>
            <a:ext cx="1314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0">
                <a:solidFill>
                  <a:srgbClr val="17202A"/>
                </a:solidFill>
                <a:latin typeface="Leelawadee UI"/>
                <a:ea typeface="Leelawadee UI"/>
                <a:cs typeface="Leelawadee UI"/>
              </a:rPr>
              <a:t>median imputation</a:t>
            </a:r>
          </a:p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0">
                <a:solidFill>
                  <a:srgbClr val="17202A"/>
                </a:solidFill>
                <a:latin typeface="Leelawadee UI"/>
                <a:ea typeface="Leelawadee UI"/>
                <a:cs typeface="Leelawadee UI"/>
              </a:rPr>
              <a:t>+ missing indicators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CD08E3E-A0CB-4315-9619-4AF815A37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3147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CA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EC36E0A-0AD8-4B7F-B29A-36CA8AC50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57550"/>
            <a:ext cx="8572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CA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EDA711D-EAF8-4B9E-B6A9-CF50C5875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86050"/>
            <a:ext cx="16383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5DED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24EA79E-DE79-40EB-8FCB-BF3CE73B9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86050"/>
            <a:ext cx="1638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2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F784E5A-7469-4D35-BE0B-DF31862A5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990850"/>
            <a:ext cx="1314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D7286"/>
                </a:solidFill>
                <a:latin typeface="Leelawadee UI"/>
                <a:ea typeface="Leelawadee UI"/>
                <a:cs typeface="Leelawadee UI"/>
              </a:defRPr>
            </a:pPr>
            <a:r>
              <a:rPr sz="1200" b="1">
                <a:solidFill>
                  <a:srgbClr val="0D7286"/>
                </a:solidFill>
                <a:latin typeface="Leelawadee UI"/>
                <a:ea typeface="Leelawadee UI"/>
                <a:cs typeface="Leelawadee UI"/>
              </a:rPr>
              <a:t>Interpretation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67ACABE-3701-4FB2-9CAC-A475E4C0C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333750"/>
            <a:ext cx="1314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0">
                <a:solidFill>
                  <a:srgbClr val="17202A"/>
                </a:solidFill>
                <a:latin typeface="Leelawadee UI"/>
                <a:ea typeface="Leelawadee UI"/>
                <a:cs typeface="Leelawadee UI"/>
              </a:rPr>
              <a:t>RF importance</a:t>
            </a:r>
          </a:p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0">
                <a:solidFill>
                  <a:srgbClr val="17202A"/>
                </a:solidFill>
                <a:latin typeface="Leelawadee UI"/>
                <a:ea typeface="Leelawadee UI"/>
                <a:cs typeface="Leelawadee UI"/>
              </a:rPr>
              <a:t>+ SHAP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D90D929-4C89-4B0F-A76F-EAE5B0FB6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762500"/>
            <a:ext cx="8572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4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ABE15C8-BCFE-4C7D-9339-AE762B6A5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9339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FE8E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CFE8EF"/>
                </a:solidFill>
                <a:latin typeface="Leelawadee UI"/>
                <a:ea typeface="Leelawadee UI"/>
                <a:cs typeface="Leelawadee UI"/>
              </a:rPr>
              <a:t>Guardrail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60A4A43-D786-4BFE-ABDA-93F570A0F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914900"/>
            <a:ext cx="666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Feature importance ต้องสะท้อน structured clinical signal ไม่ใช่การอ่าน diagnosis ที่ใช้สร้าง target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7E042DB-72FA-4580-B4F9-C32799BFE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B949E"/>
                </a:solidFill>
                <a:latin typeface="Leelawadee UI"/>
                <a:ea typeface="Leelawadee UI"/>
                <a:cs typeface="Leelawadee UI"/>
              </a:defRPr>
            </a:pPr>
            <a:r>
              <a:rPr sz="675" b="0">
                <a:solidFill>
                  <a:srgbClr val="8B949E"/>
                </a:solidFill>
                <a:latin typeface="Leelawadee UI"/>
                <a:ea typeface="Leelawadee UI"/>
                <a:cs typeface="Leelawadee UI"/>
              </a:rPr>
              <a:t>Source: src/feature_importance.py; job/feature-importance-stroke.md; feature_importance_stroke_metrics.txt</a:t>
            </a:r>
          </a:p>
        </p:txBody>
      </p:sp>
    </p:spTree>
    <p:extLst>
      <p:ext uri="{BB962C8B-B14F-4D97-AF65-F5344CB8AC3E}">
        <p14:creationId xmlns:p14="http://schemas.microsoft.com/office/powerpoint/2010/main" val="171684251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ECB8F9-E228-4E36-AD18-941C9435A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471F96-CFA7-43D8-8B4B-7BAC45AED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2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824683-B7F0-49CE-9390-E95F34B7C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6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7-marker">
            <a:extLst xmlns:a="http://schemas.openxmlformats.org/drawingml/2006/main">
              <a:ext uri="{FF2B5EF4-FFF2-40B4-BE49-F238E27FC236}">
                <a16:creationId xmlns:a16="http://schemas.microsoft.com/office/drawing/2014/main" id="{A05C5C19-BF56-4448-946A-9438BB8FD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6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7-label">
            <a:extLst xmlns:a="http://schemas.openxmlformats.org/drawingml/2006/main">
              <a:ext uri="{FF2B5EF4-FFF2-40B4-BE49-F238E27FC236}">
                <a16:creationId xmlns:a16="http://schemas.microsoft.com/office/drawing/2014/main" id="{4437B0CD-247E-4A84-9B2E-A681C3277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8625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7080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607080"/>
                </a:solidFill>
                <a:latin typeface="Leelawadee UI"/>
                <a:ea typeface="Leelawadee UI"/>
                <a:cs typeface="Leelawadee UI"/>
              </a:rPr>
              <a:t>MODEL SELECTION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158BB0-61E9-411E-AF12-202B136C3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53150"/>
            <a:ext cx="552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0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0">
                <a:solidFill>
                  <a:srgbClr val="607080"/>
                </a:solidFill>
                <a:latin typeface="Leelawadee UI"/>
                <a:ea typeface="Leelawadee UI"/>
                <a:cs typeface="Leelawadee UI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ACE493-EC45-4B39-ACFC-D8DBEF4C0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791"/>
                </a:solidFill>
                <a:latin typeface="Leelawadee UI"/>
                <a:ea typeface="Leelawadee UI"/>
                <a:cs typeface="Leelawadee UI"/>
              </a:defRPr>
            </a:pPr>
            <a:r>
              <a:rPr sz="750" b="0">
                <a:solidFill>
                  <a:srgbClr val="7B8791"/>
                </a:solidFill>
                <a:latin typeface="Leelawadee UI"/>
                <a:ea typeface="Leelawadee UI"/>
                <a:cs typeface="Leelawadee UI"/>
              </a:rPr>
              <a:t>EDA + Feature Importance | stroke prediction record-level analysis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51CADC-4E5D-4532-BAFB-215F8716C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906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2A"/>
                </a:solidFill>
                <a:latin typeface="Leelawadee UI"/>
                <a:ea typeface="Leelawadee UI"/>
                <a:cs typeface="Leelawadee UI"/>
              </a:defRPr>
            </a:pPr>
            <a:r>
              <a:rPr sz="2625" b="1">
                <a:solidFill>
                  <a:srgbClr val="17202A"/>
                </a:solidFill>
                <a:latin typeface="Leelawadee UI"/>
                <a:ea typeface="Leelawadee UI"/>
                <a:cs typeface="Leelawadee UI"/>
              </a:rPr>
              <a:t>Random Forest เหมาะเป็นโมเดลหลักสำหรับ interpretation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0BFDBF-29AE-46CB-9853-89A66E8D5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895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080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0">
                <a:solidFill>
                  <a:srgbClr val="607080"/>
                </a:solidFill>
                <a:latin typeface="Leelawadee UI"/>
                <a:ea typeface="Leelawadee UI"/>
                <a:cs typeface="Leelawadee UI"/>
              </a:rPr>
              <a:t>Holdout performance มี balance ดีกว่า XGBoost แม้ XGBoost recall สูงกว่า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2173E5-9E66-4A48-AA0B-1AFB9C0EF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4857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5DE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0BF51F-1C86-4355-9BD6-C2397161E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52700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D7286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1">
                <a:solidFill>
                  <a:srgbClr val="0D7286"/>
                </a:solidFill>
                <a:latin typeface="Leelawadee UI"/>
                <a:ea typeface="Leelawadee UI"/>
                <a:cs typeface="Leelawadee UI"/>
              </a:rPr>
              <a:t>Random Forest holdout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800481-BEC7-48BF-ACA8-647B541F2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114675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A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17202A"/>
                </a:solidFill>
                <a:latin typeface="Leelawadee UI"/>
                <a:ea typeface="Leelawadee UI"/>
                <a:cs typeface="Leelawadee UI"/>
              </a:rPr>
              <a:t>ROC-AUC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410AD3-9641-4D6A-9DC8-C463908E9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162300"/>
            <a:ext cx="2190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831F0F-9770-4216-B7BB-41B5CBB37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162300"/>
            <a:ext cx="2109692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2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CF8588-468C-4172-9BE9-2593C6734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114675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080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0">
                <a:solidFill>
                  <a:srgbClr val="607080"/>
                </a:solidFill>
                <a:latin typeface="Leelawadee UI"/>
                <a:ea typeface="Leelawadee UI"/>
                <a:cs typeface="Leelawadee UI"/>
              </a:rPr>
              <a:t>0.963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A99487-A6A6-4B38-A5AD-E90ABB390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609975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A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17202A"/>
                </a:solidFill>
                <a:latin typeface="Leelawadee UI"/>
                <a:ea typeface="Leelawadee UI"/>
                <a:cs typeface="Leelawadee UI"/>
              </a:rPr>
              <a:t>F1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4FDC44-ED8E-4128-82C6-1CE8BBFB5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657600"/>
            <a:ext cx="2190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006315-A4A4-4B38-A02D-D4D5207D4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657600"/>
            <a:ext cx="1145762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2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67512E-479F-45FC-A5DF-EE7E84933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609975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080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0">
                <a:solidFill>
                  <a:srgbClr val="607080"/>
                </a:solidFill>
                <a:latin typeface="Leelawadee UI"/>
                <a:ea typeface="Leelawadee UI"/>
                <a:cs typeface="Leelawadee UI"/>
              </a:rPr>
              <a:t>0.523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EC70BB-4E67-460B-9BE3-1894AADFD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105275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A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17202A"/>
                </a:solidFill>
                <a:latin typeface="Leelawadee UI"/>
                <a:ea typeface="Leelawadee UI"/>
                <a:cs typeface="Leelawadee UI"/>
              </a:rPr>
              <a:t>Precision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F8F1D5-3C32-48F0-BDC3-D9698654C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152900"/>
            <a:ext cx="2190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E2ED1F-E0FC-4C1C-BDAF-0CCE4962A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152900"/>
            <a:ext cx="94859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2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588721-878A-4268-B4FA-921A5AA19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105275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080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0">
                <a:solidFill>
                  <a:srgbClr val="607080"/>
                </a:solidFill>
                <a:latin typeface="Leelawadee UI"/>
                <a:ea typeface="Leelawadee UI"/>
                <a:cs typeface="Leelawadee UI"/>
              </a:rPr>
              <a:t>0.433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0B724A-A33F-430D-A4E8-92DE43F0F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00575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A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17202A"/>
                </a:solidFill>
                <a:latin typeface="Leelawadee UI"/>
                <a:ea typeface="Leelawadee UI"/>
                <a:cs typeface="Leelawadee UI"/>
              </a:rPr>
              <a:t>Recall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C967AF-FD8C-49C6-91F7-3494C5C8E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648200"/>
            <a:ext cx="2190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BDB8F5-0BDA-435A-A0A0-11EBEB6EA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648200"/>
            <a:ext cx="1443704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2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6C8AC5-6DF5-4C0E-9CE2-A5ECC80B0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600575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080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0">
                <a:solidFill>
                  <a:srgbClr val="607080"/>
                </a:solidFill>
                <a:latin typeface="Leelawadee UI"/>
                <a:ea typeface="Leelawadee UI"/>
                <a:cs typeface="Leelawadee UI"/>
              </a:rPr>
              <a:t>0.659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26D39E-F959-4F95-86D0-C6B6405BE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66950"/>
            <a:ext cx="4857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5DED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060CA7-7CA6-46AD-86B4-22117DC78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52700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76B3A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1">
                <a:solidFill>
                  <a:srgbClr val="C76B3A"/>
                </a:solidFill>
                <a:latin typeface="Leelawadee UI"/>
                <a:ea typeface="Leelawadee UI"/>
                <a:cs typeface="Leelawadee UI"/>
              </a:rPr>
              <a:t>XGBoost trade-off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481A98-D589-4AEF-9CBF-00DFA662B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114675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A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17202A"/>
                </a:solidFill>
                <a:latin typeface="Leelawadee UI"/>
                <a:ea typeface="Leelawadee UI"/>
                <a:cs typeface="Leelawadee UI"/>
              </a:rPr>
              <a:t>ROC-AUC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8AF0134-A9A7-472F-B6F2-1634557DE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162300"/>
            <a:ext cx="2190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D9D12DA-26B3-4779-A59D-1A7487147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162300"/>
            <a:ext cx="2050542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6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C580E22-0D42-4BEA-AA16-5E61276B2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3114675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080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0">
                <a:solidFill>
                  <a:srgbClr val="607080"/>
                </a:solidFill>
                <a:latin typeface="Leelawadee UI"/>
                <a:ea typeface="Leelawadee UI"/>
                <a:cs typeface="Leelawadee UI"/>
              </a:rPr>
              <a:t>0.936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A1F8F34-E603-48AA-B5DD-04CF50A40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609975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A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17202A"/>
                </a:solidFill>
                <a:latin typeface="Leelawadee UI"/>
                <a:ea typeface="Leelawadee UI"/>
                <a:cs typeface="Leelawadee UI"/>
              </a:rPr>
              <a:t>F1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18DE379-144E-4528-9B7B-5CF2541A7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657600"/>
            <a:ext cx="2190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34A2A92-A5FD-4C24-BBCC-7670F6F01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657600"/>
            <a:ext cx="460058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6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38F156E-8A42-401B-AE71-7A2ECA150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3609975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080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0">
                <a:solidFill>
                  <a:srgbClr val="607080"/>
                </a:solidFill>
                <a:latin typeface="Leelawadee UI"/>
                <a:ea typeface="Leelawadee UI"/>
                <a:cs typeface="Leelawadee UI"/>
              </a:rPr>
              <a:t>0.210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2097B72-0978-4E09-8621-BCA28D717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105275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A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17202A"/>
                </a:solidFill>
                <a:latin typeface="Leelawadee UI"/>
                <a:ea typeface="Leelawadee UI"/>
                <a:cs typeface="Leelawadee UI"/>
              </a:rPr>
              <a:t>Precision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723095C-0E82-4CBD-9F78-9DA8C6DAD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152900"/>
            <a:ext cx="2190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44BF48B-4197-48A2-8C81-00400B58D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152900"/>
            <a:ext cx="260699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3E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4990E81-B686-495A-AC01-007BF11F6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4105275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080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0">
                <a:solidFill>
                  <a:srgbClr val="607080"/>
                </a:solidFill>
                <a:latin typeface="Leelawadee UI"/>
                <a:ea typeface="Leelawadee UI"/>
                <a:cs typeface="Leelawadee UI"/>
              </a:rPr>
              <a:t>0.119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643FB36-57C5-488C-889D-83E8926EA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600575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A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17202A"/>
                </a:solidFill>
                <a:latin typeface="Leelawadee UI"/>
                <a:ea typeface="Leelawadee UI"/>
                <a:cs typeface="Leelawadee UI"/>
              </a:rPr>
              <a:t>Recall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0C7CC62-5040-4FED-8C88-916089532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648200"/>
            <a:ext cx="2190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6983D51-F31E-40E0-9672-227C4851F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648200"/>
            <a:ext cx="1912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6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651299E-9A25-40D4-A30A-95CCF67A3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4600575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080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0">
                <a:solidFill>
                  <a:srgbClr val="607080"/>
                </a:solidFill>
                <a:latin typeface="Leelawadee UI"/>
                <a:ea typeface="Leelawadee UI"/>
                <a:cs typeface="Leelawadee UI"/>
              </a:rPr>
              <a:t>0.873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ABBFF66-C4AF-4660-A3DA-03EDAC5D8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4355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2A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7202A"/>
                </a:solidFill>
                <a:latin typeface="Leelawadee UI"/>
                <a:ea typeface="Leelawadee UI"/>
                <a:cs typeface="Leelawadee UI"/>
              </a:rPr>
              <a:t>Decision: ใช้ Random Forest เป็นแกนหลักสำหรับ RF importance และ SHAP เพราะ F1 และ precision ดีกว่าใน holdout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D7CB108-AC2F-44C0-ABB9-B1F0A4FC1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B949E"/>
                </a:solidFill>
                <a:latin typeface="Leelawadee UI"/>
                <a:ea typeface="Leelawadee UI"/>
                <a:cs typeface="Leelawadee UI"/>
              </a:defRPr>
            </a:pPr>
            <a:r>
              <a:rPr sz="675" b="0">
                <a:solidFill>
                  <a:srgbClr val="8B949E"/>
                </a:solidFill>
                <a:latin typeface="Leelawadee UI"/>
                <a:ea typeface="Leelawadee UI"/>
                <a:cs typeface="Leelawadee UI"/>
              </a:rPr>
              <a:t>Source: output/feature_importance_output/model_holdout_metrics.csv</a:t>
            </a:r>
          </a:p>
        </p:txBody>
      </p:sp>
    </p:spTree>
    <p:extLst>
      <p:ext uri="{BB962C8B-B14F-4D97-AF65-F5344CB8AC3E}">
        <p14:creationId xmlns:p14="http://schemas.microsoft.com/office/powerpoint/2010/main" val="166443141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e7951838ae45c5"/>
          <a:stretch xmlns:a="http://schemas.openxmlformats.org/drawingml/2006/main"/>
        </p:blipFill>
        <p:spPr>
          <a:xfrm xmlns:a="http://schemas.openxmlformats.org/drawingml/2006/main">
            <a:off x="1961899" y="2162175"/>
            <a:ext cx="4315327" cy="343852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AB9F0B-A220-4382-B04F-591724832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4CA0A5-B92A-4CDE-9340-96A0FC5F0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3B73BC-6D42-432B-86DF-2370F6D13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3B46C1-1F4B-4469-B63C-5340BB170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F6061F-05E6-4DA6-A750-44B1CA184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668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44B4F9-0AED-4095-958F-7D399B9C7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335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6C47E5-770F-4A96-9000-B7F665359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002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AB0B9B-A4E8-4723-B467-DBC17C270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6690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358568-BF82-4FF8-A0FB-2D66F969F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52625"/>
            <a:ext cx="571500" cy="490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69CD6B-EABC-4D89-A0B6-2FCDA3DC3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952625"/>
            <a:ext cx="4524375" cy="490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449974-8663-41F2-924D-267DAD3F1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00750"/>
            <a:ext cx="12192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199123-4D71-427A-BBF5-600E3E793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2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F2BF73-790B-4887-8865-5D0C855DB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6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kicker-8-marker">
            <a:extLst xmlns:a="http://schemas.openxmlformats.org/drawingml/2006/main">
              <a:ext uri="{FF2B5EF4-FFF2-40B4-BE49-F238E27FC236}">
                <a16:creationId xmlns:a16="http://schemas.microsoft.com/office/drawing/2014/main" id="{8277991B-E962-44B6-B981-FD4F4C780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6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kicker-8-label">
            <a:extLst xmlns:a="http://schemas.openxmlformats.org/drawingml/2006/main">
              <a:ext uri="{FF2B5EF4-FFF2-40B4-BE49-F238E27FC236}">
                <a16:creationId xmlns:a16="http://schemas.microsoft.com/office/drawing/2014/main" id="{CB516C82-AE84-4628-9B84-67865C413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8625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7080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607080"/>
                </a:solidFill>
                <a:latin typeface="Leelawadee UI"/>
                <a:ea typeface="Leelawadee UI"/>
                <a:cs typeface="Leelawadee UI"/>
              </a:rPr>
              <a:t>RF IMPORTANCE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B2C4DA-6F26-46A8-A146-077FE2935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906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2A"/>
                </a:solidFill>
                <a:latin typeface="Leelawadee UI"/>
                <a:ea typeface="Leelawadee UI"/>
                <a:cs typeface="Leelawadee UI"/>
              </a:defRPr>
            </a:pPr>
            <a:r>
              <a:rPr sz="2625" b="1">
                <a:solidFill>
                  <a:srgbClr val="17202A"/>
                </a:solidFill>
                <a:latin typeface="Leelawadee UI"/>
                <a:ea typeface="Leelawadee UI"/>
                <a:cs typeface="Leelawadee UI"/>
              </a:rPr>
              <a:t>Hypertension เป็นตัวแปรสำคัญที่สุด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329218-734D-4439-80E0-A409837F8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895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080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0">
                <a:solidFill>
                  <a:srgbClr val="607080"/>
                </a:solidFill>
                <a:latin typeface="Leelawadee UI"/>
                <a:ea typeface="Leelawadee UI"/>
                <a:cs typeface="Leelawadee UI"/>
              </a:rPr>
              <a:t>RF importance ชี้ว่า comorbidity และ clinical profile เป็นสัญญาณหลัก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38B424-FB7A-47EF-811A-9A415A239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53150"/>
            <a:ext cx="552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0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0">
                <a:solidFill>
                  <a:srgbClr val="607080"/>
                </a:solidFill>
                <a:latin typeface="Leelawadee UI"/>
                <a:ea typeface="Leelawadee UI"/>
                <a:cs typeface="Leelawadee UI"/>
              </a:rPr>
              <a:t>08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A180DD-38ED-44C4-8AC2-93AB4F0B0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791"/>
                </a:solidFill>
                <a:latin typeface="Leelawadee UI"/>
                <a:ea typeface="Leelawadee UI"/>
                <a:cs typeface="Leelawadee UI"/>
              </a:defRPr>
            </a:pPr>
            <a:r>
              <a:rPr sz="750" b="0">
                <a:solidFill>
                  <a:srgbClr val="7B8791"/>
                </a:solidFill>
                <a:latin typeface="Leelawadee UI"/>
                <a:ea typeface="Leelawadee UI"/>
                <a:cs typeface="Leelawadee UI"/>
              </a:rPr>
              <a:t>EDA + Feature Importance | stroke prediction record-level analysis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EAD44F-D7FF-48DE-BF72-12406B93D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190750"/>
            <a:ext cx="24765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5DED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FFEC5F-E974-4F76-9D34-60267D232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190750"/>
            <a:ext cx="571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3E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F8BDBE-6C29-43DE-8C08-D1F570BA5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371725"/>
            <a:ext cx="2152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A53E3E"/>
                </a:solidFill>
                <a:latin typeface="Leelawadee UI"/>
                <a:ea typeface="Leelawadee UI"/>
                <a:cs typeface="Leelawadee UI"/>
              </a:defRPr>
            </a:pPr>
            <a:r>
              <a:rPr sz="1950" b="1">
                <a:solidFill>
                  <a:srgbClr val="A53E3E"/>
                </a:solidFill>
                <a:latin typeface="Leelawadee UI"/>
                <a:ea typeface="Leelawadee UI"/>
                <a:cs typeface="Leelawadee UI"/>
              </a:rPr>
              <a:t>0.254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390AA9-BCD8-4FD7-9C5F-583ECE44C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733675"/>
            <a:ext cx="2152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A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17202A"/>
                </a:solidFill>
                <a:latin typeface="Leelawadee UI"/>
                <a:ea typeface="Leelawadee UI"/>
                <a:cs typeface="Leelawadee UI"/>
              </a:rPr>
              <a:t>hypertension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904D18-EF76-46B3-A04F-035725347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971800"/>
            <a:ext cx="2152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080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607080"/>
                </a:solidFill>
                <a:latin typeface="Leelawadee UI"/>
                <a:ea typeface="Leelawadee UI"/>
                <a:cs typeface="Leelawadee UI"/>
              </a:rPr>
              <a:t>rank 1 RF importance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608288-AAA9-43AD-8C18-3AAABDBE9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429000"/>
            <a:ext cx="24765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5DED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E0DC51-EC58-49EE-AFC1-1DE14CA3F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429000"/>
            <a:ext cx="571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2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725E89-D45B-4DD2-AFEA-0085A38D0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609975"/>
            <a:ext cx="2152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D7286"/>
                </a:solidFill>
                <a:latin typeface="Leelawadee UI"/>
                <a:ea typeface="Leelawadee UI"/>
                <a:cs typeface="Leelawadee UI"/>
              </a:defRPr>
            </a:pPr>
            <a:r>
              <a:rPr sz="1950" b="1">
                <a:solidFill>
                  <a:srgbClr val="0D7286"/>
                </a:solidFill>
                <a:latin typeface="Leelawadee UI"/>
                <a:ea typeface="Leelawadee UI"/>
                <a:cs typeface="Leelawadee UI"/>
              </a:rPr>
              <a:t>0.075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AC6C43-5FB9-4DC9-B747-4008A7C6F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971925"/>
            <a:ext cx="2152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A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17202A"/>
                </a:solidFill>
                <a:latin typeface="Leelawadee UI"/>
                <a:ea typeface="Leelawadee UI"/>
                <a:cs typeface="Leelawadee UI"/>
              </a:rPr>
              <a:t>age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3DFB50-87DB-4F0F-951B-A863D7065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210050"/>
            <a:ext cx="2152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080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607080"/>
                </a:solidFill>
                <a:latin typeface="Leelawadee UI"/>
                <a:ea typeface="Leelawadee UI"/>
                <a:cs typeface="Leelawadee UI"/>
              </a:rPr>
              <a:t>rank 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049391-73DA-4827-BFA7-CE22393AF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667250"/>
            <a:ext cx="24765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5DED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7F7C489-A98E-469F-AA9C-5EC3560B8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667250"/>
            <a:ext cx="571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8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1581E03-2197-45C0-B0E9-EB0C8C121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848225"/>
            <a:ext cx="2152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6E8B3D"/>
                </a:solidFill>
                <a:latin typeface="Leelawadee UI"/>
                <a:ea typeface="Leelawadee UI"/>
                <a:cs typeface="Leelawadee UI"/>
              </a:defRPr>
            </a:pPr>
            <a:r>
              <a:rPr sz="1950" b="1">
                <a:solidFill>
                  <a:srgbClr val="6E8B3D"/>
                </a:solidFill>
                <a:latin typeface="Leelawadee UI"/>
                <a:ea typeface="Leelawadee UI"/>
                <a:cs typeface="Leelawadee UI"/>
              </a:rPr>
              <a:t>0.062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6CE7EAF-11A3-4D93-8C77-7FB53900C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5210175"/>
            <a:ext cx="2152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A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17202A"/>
                </a:solidFill>
                <a:latin typeface="Leelawadee UI"/>
                <a:ea typeface="Leelawadee UI"/>
                <a:cs typeface="Leelawadee UI"/>
              </a:rPr>
              <a:t>BMI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4A3AB7C-06F2-435A-8327-6A77D7B25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5448300"/>
            <a:ext cx="2152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080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607080"/>
                </a:solidFill>
                <a:latin typeface="Leelawadee UI"/>
                <a:ea typeface="Leelawadee UI"/>
                <a:cs typeface="Leelawadee UI"/>
              </a:rPr>
              <a:t>rank 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8D8DD0D-6DC5-478B-80F3-9B704C46A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7912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53E3E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A53E3E"/>
                </a:solidFill>
                <a:latin typeface="Leelawadee UI"/>
                <a:ea typeface="Leelawadee UI"/>
                <a:cs typeface="Leelawadee UI"/>
              </a:rPr>
              <a:t>Caveat: importance ไม่ใช่ causal effect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9010664-BCBE-4E6E-9BB8-905D1A644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B949E"/>
                </a:solidFill>
                <a:latin typeface="Leelawadee UI"/>
                <a:ea typeface="Leelawadee UI"/>
                <a:cs typeface="Leelawadee UI"/>
              </a:defRPr>
            </a:pPr>
            <a:r>
              <a:rPr sz="675" b="0">
                <a:solidFill>
                  <a:srgbClr val="8B949E"/>
                </a:solidFill>
                <a:latin typeface="Leelawadee UI"/>
                <a:ea typeface="Leelawadee UI"/>
                <a:cs typeface="Leelawadee UI"/>
              </a:rPr>
              <a:t>Source: output/feature_importance_output/feature_importance_stroke.csv; feature_importance_stroke.png</a:t>
            </a:r>
          </a:p>
        </p:txBody>
      </p:sp>
    </p:spTree>
    <p:extLst>
      <p:ext uri="{BB962C8B-B14F-4D97-AF65-F5344CB8AC3E}">
        <p14:creationId xmlns:p14="http://schemas.microsoft.com/office/powerpoint/2010/main" val="4336718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a275edbdb34988"/>
          <a:stretch xmlns:a="http://schemas.openxmlformats.org/drawingml/2006/main"/>
        </p:blipFill>
        <p:spPr>
          <a:xfrm xmlns:a="http://schemas.openxmlformats.org/drawingml/2006/main">
            <a:off x="2957632" y="2190750"/>
            <a:ext cx="2276237" cy="32956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D2CE67-6E6D-459B-AA40-12392A9AE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6D8F6C-7870-4E13-86A4-FF6458AE5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172F0C-154A-40D2-90A0-6380863A0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ADFEA1-D2C9-4875-B967-FD7524A35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8A87F4-888D-4658-B06A-15A8542E2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668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E85AC6-5A81-449F-9B48-605F8D3C9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335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931B85-61FE-4257-9966-B2906B71E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002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8DE5A9-77D8-4F41-B97D-D64E2AB01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6690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32E8F4-A5F2-4E3D-BE26-B711E7E65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81200"/>
            <a:ext cx="571500" cy="487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118854-11BA-4CD0-96FB-28F6D14B2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81200"/>
            <a:ext cx="4572000" cy="487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2A053B-7B95-4C70-91D6-2792833C5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86450"/>
            <a:ext cx="121920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3B05AB-B09F-42A4-AD0A-1C4E88483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2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5DFADA-3784-46BD-B111-3C5640F85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6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kicker-9-marker">
            <a:extLst xmlns:a="http://schemas.openxmlformats.org/drawingml/2006/main">
              <a:ext uri="{FF2B5EF4-FFF2-40B4-BE49-F238E27FC236}">
                <a16:creationId xmlns:a16="http://schemas.microsoft.com/office/drawing/2014/main" id="{C33ACEFD-7A0A-441A-9938-059EA98CA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6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kicker-9-label">
            <a:extLst xmlns:a="http://schemas.openxmlformats.org/drawingml/2006/main">
              <a:ext uri="{FF2B5EF4-FFF2-40B4-BE49-F238E27FC236}">
                <a16:creationId xmlns:a16="http://schemas.microsoft.com/office/drawing/2014/main" id="{985D25E1-3E02-4A81-93EF-9275EF245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8625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7080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607080"/>
                </a:solidFill>
                <a:latin typeface="Leelawadee UI"/>
                <a:ea typeface="Leelawadee UI"/>
                <a:cs typeface="Leelawadee UI"/>
              </a:rPr>
              <a:t>SHAP VALIDATION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FE9C16-E146-42EC-ABFF-780E9C92E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906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2A"/>
                </a:solidFill>
                <a:latin typeface="Leelawadee UI"/>
                <a:ea typeface="Leelawadee UI"/>
                <a:cs typeface="Leelawadee UI"/>
              </a:defRPr>
            </a:pPr>
            <a:r>
              <a:rPr sz="2625" b="1">
                <a:solidFill>
                  <a:srgbClr val="17202A"/>
                </a:solidFill>
                <a:latin typeface="Leelawadee UI"/>
                <a:ea typeface="Leelawadee UI"/>
                <a:cs typeface="Leelawadee UI"/>
              </a:rPr>
              <a:t>SHAP ยืนยันสัญญาณหลักของ hypertension, diabetes, age และ medication flags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5B5FF8-B17E-4B97-AEFF-AC4425DC8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895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080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0">
                <a:solidFill>
                  <a:srgbClr val="607080"/>
                </a:solidFill>
                <a:latin typeface="Leelawadee UI"/>
                <a:ea typeface="Leelawadee UI"/>
                <a:cs typeface="Leelawadee UI"/>
              </a:rPr>
              <a:t>Mean absolute SHAP ให้ ranking ใกล้เคียง RF importance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851768-17E3-4B26-910E-FCED19B4E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53150"/>
            <a:ext cx="552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0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0">
                <a:solidFill>
                  <a:srgbClr val="607080"/>
                </a:solidFill>
                <a:latin typeface="Leelawadee UI"/>
                <a:ea typeface="Leelawadee UI"/>
                <a:cs typeface="Leelawadee UI"/>
              </a:rPr>
              <a:t>09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69A264-C2FE-4DC7-BBE1-A5173BBC4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791"/>
                </a:solidFill>
                <a:latin typeface="Leelawadee UI"/>
                <a:ea typeface="Leelawadee UI"/>
                <a:cs typeface="Leelawadee UI"/>
              </a:defRPr>
            </a:pPr>
            <a:r>
              <a:rPr sz="750" b="0">
                <a:solidFill>
                  <a:srgbClr val="7B8791"/>
                </a:solidFill>
                <a:latin typeface="Leelawadee UI"/>
                <a:ea typeface="Leelawadee UI"/>
                <a:cs typeface="Leelawadee UI"/>
              </a:rPr>
              <a:t>EDA + Feature Importance | stroke prediction record-level analysis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82B3BF-4266-4647-8B14-D0D8BE84A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95500"/>
            <a:ext cx="27241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5DED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C10DE2-9C09-48AC-B0ED-B9D66B690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95500"/>
            <a:ext cx="571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3E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BEAC8D-0247-468C-82ED-272B40242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76475"/>
            <a:ext cx="2400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A53E3E"/>
                </a:solidFill>
                <a:latin typeface="Leelawadee UI"/>
                <a:ea typeface="Leelawadee UI"/>
                <a:cs typeface="Leelawadee UI"/>
              </a:defRPr>
            </a:pPr>
            <a:r>
              <a:rPr sz="1950" b="1">
                <a:solidFill>
                  <a:srgbClr val="A53E3E"/>
                </a:solidFill>
                <a:latin typeface="Leelawadee UI"/>
                <a:ea typeface="Leelawadee UI"/>
                <a:cs typeface="Leelawadee UI"/>
              </a:rPr>
              <a:t>0.163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A8C317-D59F-4647-A11B-D3EBE46F5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638425"/>
            <a:ext cx="2400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A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17202A"/>
                </a:solidFill>
                <a:latin typeface="Leelawadee UI"/>
                <a:ea typeface="Leelawadee UI"/>
                <a:cs typeface="Leelawadee UI"/>
              </a:rPr>
              <a:t>hypertension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968DD2-A621-40D5-8880-83C7B07A1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876550"/>
            <a:ext cx="2400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080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607080"/>
                </a:solidFill>
                <a:latin typeface="Leelawadee UI"/>
                <a:ea typeface="Leelawadee UI"/>
                <a:cs typeface="Leelawadee UI"/>
              </a:rPr>
              <a:t>mean abs SHAP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7F3528-538F-4A83-AB49-F4211A93E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181350"/>
            <a:ext cx="27241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5DED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D8948C-C965-4417-BF9A-02233AE2F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181350"/>
            <a:ext cx="571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6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E99FD2-0675-4872-A9C1-2B1286C5C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362325"/>
            <a:ext cx="2400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C76B3A"/>
                </a:solidFill>
                <a:latin typeface="Leelawadee UI"/>
                <a:ea typeface="Leelawadee UI"/>
                <a:cs typeface="Leelawadee UI"/>
              </a:defRPr>
            </a:pPr>
            <a:r>
              <a:rPr sz="1950" b="1">
                <a:solidFill>
                  <a:srgbClr val="C76B3A"/>
                </a:solidFill>
                <a:latin typeface="Leelawadee UI"/>
                <a:ea typeface="Leelawadee UI"/>
                <a:cs typeface="Leelawadee UI"/>
              </a:rPr>
              <a:t>0.050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06AC9D-A9C9-40AD-9B5C-F6AD9EE86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724275"/>
            <a:ext cx="2400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A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17202A"/>
                </a:solidFill>
                <a:latin typeface="Leelawadee UI"/>
                <a:ea typeface="Leelawadee UI"/>
                <a:cs typeface="Leelawadee UI"/>
              </a:rPr>
              <a:t>diabetes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20D1121-687B-4159-A369-9D8CDCE80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962400"/>
            <a:ext cx="2400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080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607080"/>
                </a:solidFill>
                <a:latin typeface="Leelawadee UI"/>
                <a:ea typeface="Leelawadee UI"/>
                <a:cs typeface="Leelawadee UI"/>
              </a:rPr>
              <a:t>rank 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0E46E9-DD47-4C8F-9FFE-556C2538B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67200"/>
            <a:ext cx="27241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5DED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56A7A3A-BA94-4106-8E77-340D3BB73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67200"/>
            <a:ext cx="571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8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635C05E-F762-467D-9209-4EF5E3925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448175"/>
            <a:ext cx="2400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6E8B3D"/>
                </a:solidFill>
                <a:latin typeface="Leelawadee UI"/>
                <a:ea typeface="Leelawadee UI"/>
                <a:cs typeface="Leelawadee UI"/>
              </a:defRPr>
            </a:pPr>
            <a:r>
              <a:rPr sz="1950" b="1">
                <a:solidFill>
                  <a:srgbClr val="6E8B3D"/>
                </a:solidFill>
                <a:latin typeface="Leelawadee UI"/>
                <a:ea typeface="Leelawadee UI"/>
                <a:cs typeface="Leelawadee UI"/>
              </a:rPr>
              <a:t>0.049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D1F272C-3230-4028-861B-B7EC0081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810125"/>
            <a:ext cx="2400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A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17202A"/>
                </a:solidFill>
                <a:latin typeface="Leelawadee UI"/>
                <a:ea typeface="Leelawadee UI"/>
                <a:cs typeface="Leelawadee UI"/>
              </a:rPr>
              <a:t>Antihypertensive flag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66981FB-D746-4BB6-90BE-B943F26C1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048250"/>
            <a:ext cx="2400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080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607080"/>
                </a:solidFill>
                <a:latin typeface="Leelawadee UI"/>
                <a:ea typeface="Leelawadee UI"/>
                <a:cs typeface="Leelawadee UI"/>
              </a:rPr>
              <a:t>rank 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17AF304-4EE8-4E55-B42E-E42AD0203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524500"/>
            <a:ext cx="2952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1">
                <a:solidFill>
                  <a:srgbClr val="17202A"/>
                </a:solidFill>
                <a:latin typeface="Leelawadee UI"/>
                <a:ea typeface="Leelawadee UI"/>
                <a:cs typeface="Leelawadee UI"/>
              </a:rPr>
              <a:t>SHAP อธิบาย contribution ต่อ prediction output ไม่ใช่ผลเชิงสาเหตุ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1473410-9F43-46C0-8715-5F49FF37D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B949E"/>
                </a:solidFill>
                <a:latin typeface="Leelawadee UI"/>
                <a:ea typeface="Leelawadee UI"/>
                <a:cs typeface="Leelawadee UI"/>
              </a:defRPr>
            </a:pPr>
            <a:r>
              <a:rPr sz="675" b="0">
                <a:solidFill>
                  <a:srgbClr val="8B949E"/>
                </a:solidFill>
                <a:latin typeface="Leelawadee UI"/>
                <a:ea typeface="Leelawadee UI"/>
                <a:cs typeface="Leelawadee UI"/>
              </a:rPr>
              <a:t>Source: output/feature_importance_output/shap_importance_random_forest.csv; shap_bar_random_forest.png</a:t>
            </a:r>
          </a:p>
        </p:txBody>
      </p:sp>
    </p:spTree>
    <p:extLst>
      <p:ext uri="{BB962C8B-B14F-4D97-AF65-F5344CB8AC3E}">
        <p14:creationId xmlns:p14="http://schemas.microsoft.com/office/powerpoint/2010/main" val="139695600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C26A42-7165-4F30-B723-44DF0870F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FF0B6F-7406-46B6-848B-205E500E8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2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171313-FB62-485B-8B08-B1AE6AF89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6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0-marker">
            <a:extLst xmlns:a="http://schemas.openxmlformats.org/drawingml/2006/main">
              <a:ext uri="{FF2B5EF4-FFF2-40B4-BE49-F238E27FC236}">
                <a16:creationId xmlns:a16="http://schemas.microsoft.com/office/drawing/2014/main" id="{BC1EA1DF-D4C6-4FD5-A1BB-FCECB085D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6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10-label">
            <a:extLst xmlns:a="http://schemas.openxmlformats.org/drawingml/2006/main">
              <a:ext uri="{FF2B5EF4-FFF2-40B4-BE49-F238E27FC236}">
                <a16:creationId xmlns:a16="http://schemas.microsoft.com/office/drawing/2014/main" id="{D29716E6-051B-4A66-B08E-422B10F31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8625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7080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607080"/>
                </a:solidFill>
                <a:latin typeface="Leelawadee UI"/>
                <a:ea typeface="Leelawadee UI"/>
                <a:cs typeface="Leelawadee UI"/>
              </a:rPr>
              <a:t>CLOSE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DBA13E-865E-4EBB-AD6A-2C6CAA048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53150"/>
            <a:ext cx="552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0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0">
                <a:solidFill>
                  <a:srgbClr val="607080"/>
                </a:solidFill>
                <a:latin typeface="Leelawadee UI"/>
                <a:ea typeface="Leelawadee UI"/>
                <a:cs typeface="Leelawadee UI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B38BFD-67AA-41CE-B716-28263C62F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791"/>
                </a:solidFill>
                <a:latin typeface="Leelawadee UI"/>
                <a:ea typeface="Leelawadee UI"/>
                <a:cs typeface="Leelawadee UI"/>
              </a:defRPr>
            </a:pPr>
            <a:r>
              <a:rPr sz="750" b="0">
                <a:solidFill>
                  <a:srgbClr val="7B8791"/>
                </a:solidFill>
                <a:latin typeface="Leelawadee UI"/>
                <a:ea typeface="Leelawadee UI"/>
                <a:cs typeface="Leelawadee UI"/>
              </a:rPr>
              <a:t>EDA + Feature Importance | stroke prediction record-level analysis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74F09C-C87B-4FB2-A3D6-6F9E1A1A1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906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2A"/>
                </a:solidFill>
                <a:latin typeface="Leelawadee UI"/>
                <a:ea typeface="Leelawadee UI"/>
                <a:cs typeface="Leelawadee UI"/>
              </a:defRPr>
            </a:pPr>
            <a:r>
              <a:rPr sz="2625" b="1">
                <a:solidFill>
                  <a:srgbClr val="17202A"/>
                </a:solidFill>
                <a:latin typeface="Leelawadee UI"/>
                <a:ea typeface="Leelawadee UI"/>
                <a:cs typeface="Leelawadee UI"/>
              </a:rPr>
              <a:t>ข้อสรุปและข้อควรระวัง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7F6784-6EBE-45D9-8289-D0D050706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895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080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0">
                <a:solidFill>
                  <a:srgbClr val="607080"/>
                </a:solidFill>
                <a:latin typeface="Leelawadee UI"/>
                <a:ea typeface="Leelawadee UI"/>
                <a:cs typeface="Leelawadee UI"/>
              </a:rPr>
              <a:t>Insight ใช้ชี้ทิศทางได้ แต่ต้องมี validation และ guardrails ก่อนใช้งานต่อ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E6C3C9-7FA3-4A2F-ABD6-9930572FB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90750"/>
            <a:ext cx="4762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5DE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A9DDEE-0B28-479C-A7B1-6F4D3118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90750"/>
            <a:ext cx="4762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2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9D5F5C-A2CE-4685-9173-73F5BC19F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95550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D7286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1">
                <a:solidFill>
                  <a:srgbClr val="0D7286"/>
                </a:solidFill>
                <a:latin typeface="Leelawadee UI"/>
                <a:ea typeface="Leelawadee UI"/>
                <a:cs typeface="Leelawadee UI"/>
              </a:rPr>
              <a:t>What we learned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9DCE40-5395-40F7-9769-C77674A8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051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2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28E63B-51A8-4A34-8149-3F50FC891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28950"/>
            <a:ext cx="3638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Leelawadee UI"/>
                <a:ea typeface="Leelawadee UI"/>
                <a:cs typeface="Leelawadee UI"/>
              </a:defRPr>
            </a:pPr>
            <a:r>
              <a:rPr sz="1200" b="0">
                <a:solidFill>
                  <a:srgbClr val="17202A"/>
                </a:solidFill>
                <a:latin typeface="Leelawadee UI"/>
                <a:ea typeface="Leelawadee UI"/>
                <a:cs typeface="Leelawadee UI"/>
              </a:rPr>
              <a:t>Stroke เป็น minority class: 2.36%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714D11-2F1A-41C9-A5DF-B5F2D81C2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623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2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D391C8-FC0B-40BD-9E1A-4DB99B0BA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86150"/>
            <a:ext cx="3638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Leelawadee UI"/>
                <a:ea typeface="Leelawadee UI"/>
                <a:cs typeface="Leelawadee UI"/>
              </a:defRPr>
            </a:pPr>
            <a:r>
              <a:rPr sz="1200" b="0">
                <a:solidFill>
                  <a:srgbClr val="17202A"/>
                </a:solidFill>
                <a:latin typeface="Leelawadee UI"/>
                <a:ea typeface="Leelawadee UI"/>
                <a:cs typeface="Leelawadee UI"/>
              </a:rPr>
              <a:t>Lab missingness สูงมากกว่า 70% หลายตัว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4DD879-A7C7-453C-B286-EEFD81C7E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2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975458-EDFA-48D4-9474-1B0CC56A8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943350"/>
            <a:ext cx="3638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Leelawadee UI"/>
                <a:ea typeface="Leelawadee UI"/>
                <a:cs typeface="Leelawadee UI"/>
              </a:defRPr>
            </a:pPr>
            <a:r>
              <a:rPr sz="1200" b="0">
                <a:solidFill>
                  <a:srgbClr val="17202A"/>
                </a:solidFill>
                <a:latin typeface="Leelawadee UI"/>
                <a:ea typeface="Leelawadee UI"/>
                <a:cs typeface="Leelawadee UI"/>
              </a:rPr>
              <a:t>Hypertension, diabetes, age และ medication flags เป็นสัญญาณหลัก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74A740-6458-47D8-923A-AB3E88C25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767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2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E5F5AC-546F-44C6-BBB5-990515EAE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400550"/>
            <a:ext cx="3638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Leelawadee UI"/>
                <a:ea typeface="Leelawadee UI"/>
                <a:cs typeface="Leelawadee UI"/>
              </a:defRPr>
            </a:pPr>
            <a:r>
              <a:rPr sz="1200" b="0">
                <a:solidFill>
                  <a:srgbClr val="17202A"/>
                </a:solidFill>
                <a:latin typeface="Leelawadee UI"/>
                <a:ea typeface="Leelawadee UI"/>
                <a:cs typeface="Leelawadee UI"/>
              </a:rPr>
              <a:t>RF และ SHAP ให้ภาพ interpretation ใกล้กัน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E13DD2-2420-48A8-8E7E-957FFEE84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90750"/>
            <a:ext cx="4762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5DED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49BE1F-158C-4D8B-8CBE-EA0387555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90750"/>
            <a:ext cx="4762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6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4F436C-2528-42B1-A7BD-F75637998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95550"/>
            <a:ext cx="304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76B3A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1">
                <a:solidFill>
                  <a:srgbClr val="C76B3A"/>
                </a:solidFill>
                <a:latin typeface="Leelawadee UI"/>
                <a:ea typeface="Leelawadee UI"/>
                <a:cs typeface="Leelawadee UI"/>
              </a:rPr>
              <a:t>What to validate next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1F1B25-FF3E-4B54-87AF-AA26B7815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051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6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457642-A82B-4083-9441-C571ACE6D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028950"/>
            <a:ext cx="36861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Leelawadee UI"/>
                <a:ea typeface="Leelawadee UI"/>
                <a:cs typeface="Leelawadee UI"/>
              </a:defRPr>
            </a:pPr>
            <a:r>
              <a:rPr sz="1200" b="0">
                <a:solidFill>
                  <a:srgbClr val="17202A"/>
                </a:solidFill>
                <a:latin typeface="Leelawadee UI"/>
                <a:ea typeface="Leelawadee UI"/>
                <a:cs typeface="Leelawadee UI"/>
              </a:rPr>
              <a:t>Permutation importance เพื่อตรวจ robustness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03BCED-8540-4B79-BDD2-D83073A4C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5623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6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445FBC-4BA7-4242-9D43-61B761B17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486150"/>
            <a:ext cx="36861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Leelawadee UI"/>
                <a:ea typeface="Leelawadee UI"/>
                <a:cs typeface="Leelawadee UI"/>
              </a:defRPr>
            </a:pPr>
            <a:r>
              <a:rPr sz="1200" b="0">
                <a:solidFill>
                  <a:srgbClr val="17202A"/>
                </a:solidFill>
                <a:latin typeface="Leelawadee UI"/>
                <a:ea typeface="Leelawadee UI"/>
                <a:cs typeface="Leelawadee UI"/>
              </a:rPr>
              <a:t>Temporal validation เพื่อตรวจ performance ข้ามเวลา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7A84B9-88F3-4146-9748-32C3FE90F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195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6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F44B01-D18B-4801-B2B1-0212EDB52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943350"/>
            <a:ext cx="36861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Leelawadee UI"/>
                <a:ea typeface="Leelawadee UI"/>
                <a:cs typeface="Leelawadee UI"/>
              </a:defRPr>
            </a:pPr>
            <a:r>
              <a:rPr sz="1200" b="0">
                <a:solidFill>
                  <a:srgbClr val="17202A"/>
                </a:solidFill>
                <a:latin typeface="Leelawadee UI"/>
                <a:ea typeface="Leelawadee UI"/>
                <a:cs typeface="Leelawadee UI"/>
              </a:rPr>
              <a:t>Patient-level dataset สำหรับโจทย์ prediction ที่ใช้งานจริงกว่า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01B140-E84E-4ADB-9908-438693500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767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6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DC08F4-294D-4442-A65C-3791BFCDB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400550"/>
            <a:ext cx="36861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Leelawadee UI"/>
                <a:ea typeface="Leelawadee UI"/>
                <a:cs typeface="Leelawadee UI"/>
              </a:defRPr>
            </a:pPr>
            <a:r>
              <a:rPr sz="1200" b="0">
                <a:solidFill>
                  <a:srgbClr val="17202A"/>
                </a:solidFill>
                <a:latin typeface="Leelawadee UI"/>
                <a:ea typeface="Leelawadee UI"/>
                <a:cs typeface="Leelawadee UI"/>
              </a:rPr>
              <a:t>คง guardrail: no leakage และ no causal overclaim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F45713C-0352-4E61-84CF-8C119D4C9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543550"/>
            <a:ext cx="838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4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EFBD1B7-6590-4571-B979-BAFA9DA1B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657850"/>
            <a:ext cx="781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Bottom line: Feature importance คือ evidence สำหรับการตีความโมเดล ไม่ใช่หลักฐานเหตุและผล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0EED29E-8A23-41A7-95EE-5D6B34273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B949E"/>
                </a:solidFill>
                <a:latin typeface="Leelawadee UI"/>
                <a:ea typeface="Leelawadee UI"/>
                <a:cs typeface="Leelawadee UI"/>
              </a:defRPr>
            </a:pPr>
            <a:r>
              <a:rPr sz="675" b="0">
                <a:solidFill>
                  <a:srgbClr val="8B949E"/>
                </a:solidFill>
                <a:latin typeface="Leelawadee UI"/>
                <a:ea typeface="Leelawadee UI"/>
                <a:cs typeface="Leelawadee UI"/>
              </a:rPr>
              <a:t>Source: output/eda_output/*; output/feature_importance_output/*</a:t>
            </a:r>
          </a:p>
        </p:txBody>
      </p:sp>
    </p:spTree>
    <p:extLst>
      <p:ext uri="{BB962C8B-B14F-4D97-AF65-F5344CB8AC3E}">
        <p14:creationId xmlns:p14="http://schemas.microsoft.com/office/powerpoint/2010/main" val="3456408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2026-05-04T18:04:25.9200000Z</dcterms:created>
  <dcterms:modified xsi:type="dcterms:W3CDTF">2026-05-04T18:04:25.9200000Z</dcterms:modified>
</coreProperties>
</file>